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21374100" cy="302768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E60"/>
    <a:srgbClr val="EEF6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96" autoAdjust="0"/>
    <p:restoredTop sz="94622" autoAdjust="0"/>
  </p:normalViewPr>
  <p:slideViewPr>
    <p:cSldViewPr>
      <p:cViewPr>
        <p:scale>
          <a:sx n="33" d="100"/>
          <a:sy n="33" d="100"/>
        </p:scale>
        <p:origin x="2688" y="-15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Tay Nguan Hwee" userId="9c5418b6-3a11-4e1b-bb17-773a89435ad4" providerId="ADAL" clId="{EF2B34D1-4F98-4DE4-BA83-0BF2FB3B0A7B}"/>
    <pc:docChg chg="modSld">
      <pc:chgData name="Steven Tay Nguan Hwee" userId="9c5418b6-3a11-4e1b-bb17-773a89435ad4" providerId="ADAL" clId="{EF2B34D1-4F98-4DE4-BA83-0BF2FB3B0A7B}" dt="2026-04-13T06:18:33.426" v="3" actId="13926"/>
      <pc:docMkLst>
        <pc:docMk/>
      </pc:docMkLst>
      <pc:sldChg chg="modSp mod">
        <pc:chgData name="Steven Tay Nguan Hwee" userId="9c5418b6-3a11-4e1b-bb17-773a89435ad4" providerId="ADAL" clId="{EF2B34D1-4F98-4DE4-BA83-0BF2FB3B0A7B}" dt="2026-04-13T06:18:33.426" v="3" actId="13926"/>
        <pc:sldMkLst>
          <pc:docMk/>
          <pc:sldMk cId="0" sldId="256"/>
        </pc:sldMkLst>
        <pc:spChg chg="mod">
          <ac:chgData name="Steven Tay Nguan Hwee" userId="9c5418b6-3a11-4e1b-bb17-773a89435ad4" providerId="ADAL" clId="{EF2B34D1-4F98-4DE4-BA83-0BF2FB3B0A7B}" dt="2026-04-13T06:18:33.426" v="3" actId="13926"/>
          <ac:spMkLst>
            <pc:docMk/>
            <pc:sldMk cId="0" sldId="256"/>
            <ac:spMk id="61"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Rectangle 102">
            <a:extLst>
              <a:ext uri="{FF2B5EF4-FFF2-40B4-BE49-F238E27FC236}">
                <a16:creationId xmlns:a16="http://schemas.microsoft.com/office/drawing/2014/main" id="{1793C739-FCCC-FD34-037E-F78E77F7ED71}"/>
              </a:ext>
            </a:extLst>
          </p:cNvPr>
          <p:cNvSpPr/>
          <p:nvPr/>
        </p:nvSpPr>
        <p:spPr>
          <a:xfrm>
            <a:off x="628649" y="6223000"/>
            <a:ext cx="19803525" cy="7848598"/>
          </a:xfrm>
          <a:prstGeom prst="rect">
            <a:avLst/>
          </a:prstGeom>
          <a:solidFill>
            <a:schemeClr val="bg2">
              <a:alpha val="50000"/>
            </a:schemeClr>
          </a:solidFill>
          <a:ln cap="rnd">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 name="AutoShape 2"/>
          <p:cNvSpPr/>
          <p:nvPr/>
        </p:nvSpPr>
        <p:spPr>
          <a:xfrm>
            <a:off x="892536" y="5765800"/>
            <a:ext cx="19597473" cy="0"/>
          </a:xfrm>
          <a:prstGeom prst="line">
            <a:avLst/>
          </a:prstGeom>
          <a:ln w="28575" cap="rnd">
            <a:solidFill>
              <a:srgbClr val="403B3B"/>
            </a:solidFill>
            <a:prstDash val="solid"/>
            <a:headEnd type="none" w="sm" len="sm"/>
            <a:tailEnd type="none" w="sm" len="sm"/>
          </a:ln>
        </p:spPr>
        <p:txBody>
          <a:bodyPr/>
          <a:lstStyle/>
          <a:p>
            <a:endParaRPr lang="en-US"/>
          </a:p>
        </p:txBody>
      </p:sp>
      <p:sp>
        <p:nvSpPr>
          <p:cNvPr id="47" name="AutoShape 47"/>
          <p:cNvSpPr/>
          <p:nvPr/>
        </p:nvSpPr>
        <p:spPr>
          <a:xfrm>
            <a:off x="892536" y="28084171"/>
            <a:ext cx="19597473" cy="0"/>
          </a:xfrm>
          <a:prstGeom prst="line">
            <a:avLst/>
          </a:prstGeom>
          <a:ln w="28575" cap="rnd">
            <a:solidFill>
              <a:srgbClr val="403B3B"/>
            </a:solidFill>
            <a:prstDash val="solid"/>
            <a:headEnd type="none" w="sm" len="sm"/>
            <a:tailEnd type="none" w="sm" len="sm"/>
          </a:ln>
        </p:spPr>
        <p:txBody>
          <a:bodyPr/>
          <a:lstStyle/>
          <a:p>
            <a:endParaRPr lang="en-US"/>
          </a:p>
        </p:txBody>
      </p:sp>
      <p:grpSp>
        <p:nvGrpSpPr>
          <p:cNvPr id="50" name="Group 50"/>
          <p:cNvGrpSpPr/>
          <p:nvPr/>
        </p:nvGrpSpPr>
        <p:grpSpPr>
          <a:xfrm>
            <a:off x="892536" y="6521060"/>
            <a:ext cx="9382367" cy="591596"/>
            <a:chOff x="0" y="0"/>
            <a:chExt cx="12509823" cy="788795"/>
          </a:xfrm>
        </p:grpSpPr>
        <p:sp>
          <p:nvSpPr>
            <p:cNvPr id="51" name="AutoShape 51"/>
            <p:cNvSpPr/>
            <p:nvPr/>
          </p:nvSpPr>
          <p:spPr>
            <a:xfrm>
              <a:off x="0" y="50892"/>
              <a:ext cx="697358" cy="681256"/>
            </a:xfrm>
            <a:prstGeom prst="rect">
              <a:avLst/>
            </a:prstGeom>
            <a:solidFill>
              <a:srgbClr val="005E60"/>
            </a:solidFill>
          </p:spPr>
          <p:txBody>
            <a:bodyPr/>
            <a:lstStyle/>
            <a:p>
              <a:endParaRPr lang="en-US"/>
            </a:p>
          </p:txBody>
        </p:sp>
        <p:sp>
          <p:nvSpPr>
            <p:cNvPr id="52" name="TextBox 52"/>
            <p:cNvSpPr txBox="1"/>
            <p:nvPr/>
          </p:nvSpPr>
          <p:spPr>
            <a:xfrm>
              <a:off x="65852" y="139911"/>
              <a:ext cx="565653" cy="465119"/>
            </a:xfrm>
            <a:prstGeom prst="rect">
              <a:avLst/>
            </a:prstGeom>
          </p:spPr>
          <p:txBody>
            <a:bodyPr lIns="0" tIns="0" rIns="0" bIns="0" rtlCol="0" anchor="t">
              <a:spAutoFit/>
            </a:bodyPr>
            <a:lstStyle/>
            <a:p>
              <a:pPr algn="ctr">
                <a:lnSpc>
                  <a:spcPts val="3045"/>
                </a:lnSpc>
                <a:spcBef>
                  <a:spcPct val="0"/>
                </a:spcBef>
              </a:pPr>
              <a:r>
                <a:rPr lang="en-US" sz="2175">
                  <a:solidFill>
                    <a:srgbClr val="FFFFFF"/>
                  </a:solidFill>
                  <a:latin typeface="Arial" panose="020B0604020202020204" pitchFamily="34" charset="0"/>
                  <a:cs typeface="Arial" panose="020B0604020202020204" pitchFamily="34" charset="0"/>
                </a:rPr>
                <a:t>1</a:t>
              </a:r>
            </a:p>
          </p:txBody>
        </p:sp>
        <p:sp>
          <p:nvSpPr>
            <p:cNvPr id="53" name="TextBox 53"/>
            <p:cNvSpPr txBox="1"/>
            <p:nvPr/>
          </p:nvSpPr>
          <p:spPr>
            <a:xfrm>
              <a:off x="1090129" y="-76200"/>
              <a:ext cx="11419694" cy="864995"/>
            </a:xfrm>
            <a:prstGeom prst="rect">
              <a:avLst/>
            </a:prstGeom>
          </p:spPr>
          <p:txBody>
            <a:bodyPr lIns="0" tIns="0" rIns="0" bIns="0" rtlCol="0" anchor="t">
              <a:spAutoFit/>
            </a:bodyPr>
            <a:lstStyle/>
            <a:p>
              <a:pPr marL="0" lvl="0" indent="0" algn="l">
                <a:lnSpc>
                  <a:spcPts val="5456"/>
                </a:lnSpc>
                <a:spcBef>
                  <a:spcPct val="0"/>
                </a:spcBef>
              </a:pPr>
              <a:r>
                <a:rPr lang="en-US" sz="3897" dirty="0">
                  <a:solidFill>
                    <a:srgbClr val="403B3B"/>
                  </a:solidFill>
                  <a:latin typeface="Arial" panose="020B0604020202020204" pitchFamily="34" charset="0"/>
                  <a:cs typeface="Arial" panose="020B0604020202020204" pitchFamily="34" charset="0"/>
                </a:rPr>
                <a:t>Main contributions</a:t>
              </a:r>
            </a:p>
          </p:txBody>
        </p:sp>
      </p:grpSp>
      <p:pic>
        <p:nvPicPr>
          <p:cNvPr id="54" name="Picture 54"/>
          <p:cNvPicPr>
            <a:picLocks noChangeAspect="1"/>
          </p:cNvPicPr>
          <p:nvPr/>
        </p:nvPicPr>
        <p:blipFill>
          <a:blip r:embed="rId2"/>
          <a:srcRect l="7408" t="13870" r="7534" b="10690"/>
          <a:stretch>
            <a:fillRect/>
          </a:stretch>
        </p:blipFill>
        <p:spPr>
          <a:xfrm>
            <a:off x="16952913" y="28281115"/>
            <a:ext cx="3631438" cy="1815719"/>
          </a:xfrm>
          <a:prstGeom prst="rect">
            <a:avLst/>
          </a:prstGeom>
        </p:spPr>
      </p:pic>
      <p:pic>
        <p:nvPicPr>
          <p:cNvPr id="55" name="Picture 55"/>
          <p:cNvPicPr>
            <a:picLocks noChangeAspect="1"/>
          </p:cNvPicPr>
          <p:nvPr/>
        </p:nvPicPr>
        <p:blipFill>
          <a:blip r:embed="rId3"/>
          <a:srcRect/>
          <a:stretch>
            <a:fillRect/>
          </a:stretch>
        </p:blipFill>
        <p:spPr>
          <a:xfrm>
            <a:off x="13199223" y="28658201"/>
            <a:ext cx="3437388" cy="1061546"/>
          </a:xfrm>
          <a:prstGeom prst="rect">
            <a:avLst/>
          </a:prstGeom>
        </p:spPr>
      </p:pic>
      <p:sp>
        <p:nvSpPr>
          <p:cNvPr id="57" name="TextBox 57"/>
          <p:cNvSpPr txBox="1"/>
          <p:nvPr/>
        </p:nvSpPr>
        <p:spPr>
          <a:xfrm>
            <a:off x="892536" y="1093866"/>
            <a:ext cx="12799045" cy="1326802"/>
          </a:xfrm>
          <a:prstGeom prst="rect">
            <a:avLst/>
          </a:prstGeom>
        </p:spPr>
        <p:txBody>
          <a:bodyPr wrap="square" lIns="0" tIns="0" rIns="0" bIns="0" rtlCol="0" anchor="t">
            <a:spAutoFit/>
          </a:bodyPr>
          <a:lstStyle/>
          <a:p>
            <a:pPr>
              <a:lnSpc>
                <a:spcPts val="9986"/>
              </a:lnSpc>
            </a:pPr>
            <a:r>
              <a:rPr lang="en-US" sz="9986" spc="-399" dirty="0">
                <a:solidFill>
                  <a:srgbClr val="403B3B"/>
                </a:solidFill>
                <a:latin typeface="Arial" panose="020B0604020202020204" pitchFamily="34" charset="0"/>
                <a:cs typeface="Arial" panose="020B0604020202020204" pitchFamily="34" charset="0"/>
              </a:rPr>
              <a:t>Industry experience</a:t>
            </a:r>
          </a:p>
        </p:txBody>
      </p:sp>
      <p:sp>
        <p:nvSpPr>
          <p:cNvPr id="58" name="TextBox 58"/>
          <p:cNvSpPr txBox="1"/>
          <p:nvPr/>
        </p:nvSpPr>
        <p:spPr>
          <a:xfrm>
            <a:off x="892536" y="3079836"/>
            <a:ext cx="11218912" cy="2022220"/>
          </a:xfrm>
          <a:prstGeom prst="rect">
            <a:avLst/>
          </a:prstGeom>
        </p:spPr>
        <p:txBody>
          <a:bodyPr wrap="square" lIns="0" tIns="0" rIns="0" bIns="0" rtlCol="0" anchor="t">
            <a:spAutoFit/>
          </a:bodyPr>
          <a:lstStyle/>
          <a:p>
            <a:pPr>
              <a:lnSpc>
                <a:spcPts val="3249"/>
              </a:lnSpc>
            </a:pPr>
            <a:r>
              <a:rPr lang="en-US" sz="2499" dirty="0">
                <a:solidFill>
                  <a:srgbClr val="403B3B"/>
                </a:solidFill>
                <a:latin typeface="Arial" panose="020B0604020202020204" pitchFamily="34" charset="0"/>
                <a:cs typeface="Arial" panose="020B0604020202020204" pitchFamily="34" charset="0"/>
              </a:rPr>
              <a:t>At GE Vernova Singapore Services, I supported in project managing a lean line creation, coordinating contractors, operators and supervisors, engaging stakeholders, planning and validating standard work for operators. I’ve also participated in Kaizen event to improve the plant by tackling top problems.</a:t>
            </a:r>
          </a:p>
          <a:p>
            <a:pPr marL="0" lvl="1" indent="0" algn="l">
              <a:lnSpc>
                <a:spcPts val="3249"/>
              </a:lnSpc>
            </a:pPr>
            <a:endParaRPr lang="en-US" sz="2499" dirty="0">
              <a:solidFill>
                <a:srgbClr val="403B3B"/>
              </a:solidFill>
              <a:latin typeface="Arial" panose="020B0604020202020204" pitchFamily="34" charset="0"/>
              <a:cs typeface="Arial" panose="020B0604020202020204" pitchFamily="34" charset="0"/>
            </a:endParaRPr>
          </a:p>
        </p:txBody>
      </p:sp>
      <p:sp>
        <p:nvSpPr>
          <p:cNvPr id="60" name="TextBox 60"/>
          <p:cNvSpPr txBox="1"/>
          <p:nvPr/>
        </p:nvSpPr>
        <p:spPr>
          <a:xfrm>
            <a:off x="15423937" y="773607"/>
            <a:ext cx="5347342" cy="1225977"/>
          </a:xfrm>
          <a:prstGeom prst="rect">
            <a:avLst/>
          </a:prstGeom>
        </p:spPr>
        <p:txBody>
          <a:bodyPr lIns="0" tIns="0" rIns="0" bIns="0" rtlCol="0" anchor="t">
            <a:spAutoFit/>
          </a:bodyPr>
          <a:lstStyle/>
          <a:p>
            <a:pPr>
              <a:lnSpc>
                <a:spcPts val="4982"/>
              </a:lnSpc>
            </a:pPr>
            <a:r>
              <a:rPr lang="en-US" sz="3559" dirty="0">
                <a:solidFill>
                  <a:srgbClr val="403B3B"/>
                </a:solidFill>
                <a:latin typeface="Arial" panose="020B0604020202020204" pitchFamily="34" charset="0"/>
                <a:cs typeface="Arial" panose="020B0604020202020204" pitchFamily="34" charset="0"/>
              </a:rPr>
              <a:t>Ernest Sim</a:t>
            </a:r>
          </a:p>
          <a:p>
            <a:pPr>
              <a:lnSpc>
                <a:spcPts val="4982"/>
              </a:lnSpc>
            </a:pPr>
            <a:endParaRPr lang="en-US" sz="3559" dirty="0">
              <a:solidFill>
                <a:srgbClr val="403B3B"/>
              </a:solidFill>
              <a:latin typeface="Arial" panose="020B0604020202020204" pitchFamily="34" charset="0"/>
              <a:cs typeface="Arial" panose="020B0604020202020204" pitchFamily="34" charset="0"/>
            </a:endParaRPr>
          </a:p>
        </p:txBody>
      </p:sp>
      <p:sp>
        <p:nvSpPr>
          <p:cNvPr id="61" name="TextBox 61"/>
          <p:cNvSpPr txBox="1"/>
          <p:nvPr/>
        </p:nvSpPr>
        <p:spPr>
          <a:xfrm>
            <a:off x="892536" y="28704584"/>
            <a:ext cx="6690165" cy="911631"/>
          </a:xfrm>
          <a:prstGeom prst="rect">
            <a:avLst/>
          </a:prstGeom>
        </p:spPr>
        <p:txBody>
          <a:bodyPr lIns="0" tIns="0" rIns="0" bIns="0" rtlCol="0" anchor="t">
            <a:spAutoFit/>
          </a:bodyPr>
          <a:lstStyle/>
          <a:p>
            <a:pPr>
              <a:lnSpc>
                <a:spcPts val="4142"/>
              </a:lnSpc>
            </a:pPr>
            <a:r>
              <a:rPr lang="en-US" sz="2959" dirty="0">
                <a:solidFill>
                  <a:srgbClr val="403B3B"/>
                </a:solidFill>
                <a:latin typeface="Arial" panose="020B0604020202020204" pitchFamily="34" charset="0"/>
                <a:cs typeface="Arial" panose="020B0604020202020204" pitchFamily="34" charset="0"/>
              </a:rPr>
              <a:t>BEng Mechanical Engineering</a:t>
            </a:r>
          </a:p>
          <a:p>
            <a:pPr marL="0" lvl="0" indent="0" algn="l">
              <a:lnSpc>
                <a:spcPts val="3162"/>
              </a:lnSpc>
              <a:spcBef>
                <a:spcPct val="0"/>
              </a:spcBef>
            </a:pPr>
            <a:r>
              <a:rPr lang="en-US" sz="2259" dirty="0">
                <a:solidFill>
                  <a:srgbClr val="403B3B"/>
                </a:solidFill>
                <a:latin typeface="Arial" panose="020B0604020202020204" pitchFamily="34" charset="0"/>
                <a:cs typeface="Arial" panose="020B0604020202020204" pitchFamily="34" charset="0"/>
              </a:rPr>
              <a:t>MEC3171B IWSP AY25/26</a:t>
            </a:r>
          </a:p>
        </p:txBody>
      </p:sp>
      <p:sp>
        <p:nvSpPr>
          <p:cNvPr id="63" name="TextBox 63"/>
          <p:cNvSpPr txBox="1"/>
          <p:nvPr/>
        </p:nvSpPr>
        <p:spPr>
          <a:xfrm>
            <a:off x="15423937" y="3010339"/>
            <a:ext cx="4430227" cy="1135311"/>
          </a:xfrm>
          <a:prstGeom prst="rect">
            <a:avLst/>
          </a:prstGeom>
        </p:spPr>
        <p:txBody>
          <a:bodyPr lIns="0" tIns="0" rIns="0" bIns="0" rtlCol="0" anchor="t">
            <a:spAutoFit/>
          </a:bodyPr>
          <a:lstStyle/>
          <a:p>
            <a:pPr>
              <a:lnSpc>
                <a:spcPts val="3297"/>
              </a:lnSpc>
            </a:pPr>
            <a:r>
              <a:rPr lang="en-US" sz="2355" dirty="0">
                <a:solidFill>
                  <a:srgbClr val="000000"/>
                </a:solidFill>
                <a:latin typeface="Arial" panose="020B0604020202020204" pitchFamily="34" charset="0"/>
                <a:cs typeface="Arial" panose="020B0604020202020204" pitchFamily="34" charset="0"/>
              </a:rPr>
              <a:t>Supervisors:</a:t>
            </a:r>
          </a:p>
          <a:p>
            <a:pPr>
              <a:lnSpc>
                <a:spcPts val="2940"/>
              </a:lnSpc>
            </a:pPr>
            <a:r>
              <a:rPr lang="en-US" sz="2100" dirty="0">
                <a:solidFill>
                  <a:srgbClr val="000000"/>
                </a:solidFill>
                <a:latin typeface="Arial" panose="020B0604020202020204" pitchFamily="34" charset="0"/>
                <a:cs typeface="Arial" panose="020B0604020202020204" pitchFamily="34" charset="0"/>
              </a:rPr>
              <a:t>Chen Kwok Fong (Work supervisor)</a:t>
            </a:r>
          </a:p>
          <a:p>
            <a:pPr>
              <a:lnSpc>
                <a:spcPts val="2940"/>
              </a:lnSpc>
            </a:pPr>
            <a:r>
              <a:rPr lang="en-US" sz="2100" dirty="0">
                <a:solidFill>
                  <a:srgbClr val="000000"/>
                </a:solidFill>
                <a:latin typeface="Arial" panose="020B0604020202020204" pitchFamily="34" charset="0"/>
                <a:cs typeface="Arial" panose="020B0604020202020204" pitchFamily="34" charset="0"/>
              </a:rPr>
              <a:t>Jolly Atit Shah (Academic supervisor)</a:t>
            </a:r>
          </a:p>
        </p:txBody>
      </p:sp>
      <p:sp>
        <p:nvSpPr>
          <p:cNvPr id="67" name="TextBox 67"/>
          <p:cNvSpPr txBox="1"/>
          <p:nvPr/>
        </p:nvSpPr>
        <p:spPr>
          <a:xfrm>
            <a:off x="15436117" y="1914035"/>
            <a:ext cx="4430227" cy="803765"/>
          </a:xfrm>
          <a:prstGeom prst="rect">
            <a:avLst/>
          </a:prstGeom>
        </p:spPr>
        <p:txBody>
          <a:bodyPr lIns="0" tIns="0" rIns="0" bIns="0" rtlCol="0" anchor="t">
            <a:spAutoFit/>
          </a:bodyPr>
          <a:lstStyle/>
          <a:p>
            <a:pPr>
              <a:lnSpc>
                <a:spcPts val="3297"/>
              </a:lnSpc>
            </a:pPr>
            <a:r>
              <a:rPr lang="en-US" sz="2355" dirty="0">
                <a:solidFill>
                  <a:srgbClr val="000000"/>
                </a:solidFill>
                <a:latin typeface="Arial" panose="020B0604020202020204" pitchFamily="34" charset="0"/>
                <a:cs typeface="Arial" panose="020B0604020202020204" pitchFamily="34" charset="0"/>
              </a:rPr>
              <a:t>Operation Engineer Intern</a:t>
            </a:r>
          </a:p>
          <a:p>
            <a:pPr marL="0" lvl="0" indent="0" algn="l">
              <a:lnSpc>
                <a:spcPts val="3297"/>
              </a:lnSpc>
              <a:spcBef>
                <a:spcPct val="0"/>
              </a:spcBef>
            </a:pPr>
            <a:r>
              <a:rPr lang="en-US" sz="2355" dirty="0">
                <a:solidFill>
                  <a:srgbClr val="000000"/>
                </a:solidFill>
                <a:latin typeface="Arial" panose="020B0604020202020204" pitchFamily="34" charset="0"/>
                <a:cs typeface="Arial" panose="020B0604020202020204" pitchFamily="34" charset="0"/>
              </a:rPr>
              <a:t>GE Vernova</a:t>
            </a:r>
          </a:p>
        </p:txBody>
      </p:sp>
      <p:sp>
        <p:nvSpPr>
          <p:cNvPr id="69" name="TextBox 67">
            <a:extLst>
              <a:ext uri="{FF2B5EF4-FFF2-40B4-BE49-F238E27FC236}">
                <a16:creationId xmlns:a16="http://schemas.microsoft.com/office/drawing/2014/main" id="{EF4B6C7B-55E2-476F-BA58-C00A40A571A3}"/>
              </a:ext>
            </a:extLst>
          </p:cNvPr>
          <p:cNvSpPr txBox="1"/>
          <p:nvPr/>
        </p:nvSpPr>
        <p:spPr>
          <a:xfrm>
            <a:off x="15460708" y="1367357"/>
            <a:ext cx="4430227" cy="386131"/>
          </a:xfrm>
          <a:prstGeom prst="rect">
            <a:avLst/>
          </a:prstGeom>
        </p:spPr>
        <p:txBody>
          <a:bodyPr lIns="0" tIns="0" rIns="0" bIns="0" rtlCol="0" anchor="t">
            <a:spAutoFit/>
          </a:bodyPr>
          <a:lstStyle/>
          <a:p>
            <a:pPr>
              <a:lnSpc>
                <a:spcPts val="3297"/>
              </a:lnSpc>
            </a:pPr>
            <a:r>
              <a:rPr lang="en-US" sz="2355" dirty="0">
                <a:solidFill>
                  <a:srgbClr val="000000"/>
                </a:solidFill>
                <a:latin typeface="Arial" panose="020B0604020202020204" pitchFamily="34" charset="0"/>
                <a:cs typeface="Arial" panose="020B0604020202020204" pitchFamily="34" charset="0"/>
              </a:rPr>
              <a:t>ID: 2401326</a:t>
            </a:r>
          </a:p>
        </p:txBody>
      </p:sp>
      <p:pic>
        <p:nvPicPr>
          <p:cNvPr id="62" name="Picture 61">
            <a:extLst>
              <a:ext uri="{FF2B5EF4-FFF2-40B4-BE49-F238E27FC236}">
                <a16:creationId xmlns:a16="http://schemas.microsoft.com/office/drawing/2014/main" id="{8D7095F1-C0FE-63FE-822F-98CE69DC20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21986" y="28247117"/>
            <a:ext cx="5517358" cy="1871634"/>
          </a:xfrm>
          <a:prstGeom prst="rect">
            <a:avLst/>
          </a:prstGeom>
        </p:spPr>
      </p:pic>
      <p:grpSp>
        <p:nvGrpSpPr>
          <p:cNvPr id="72" name="Group 50">
            <a:extLst>
              <a:ext uri="{FF2B5EF4-FFF2-40B4-BE49-F238E27FC236}">
                <a16:creationId xmlns:a16="http://schemas.microsoft.com/office/drawing/2014/main" id="{80B6B27B-72D7-F0A6-2C24-FAC3A80720D4}"/>
              </a:ext>
            </a:extLst>
          </p:cNvPr>
          <p:cNvGrpSpPr/>
          <p:nvPr/>
        </p:nvGrpSpPr>
        <p:grpSpPr>
          <a:xfrm>
            <a:off x="892535" y="17928987"/>
            <a:ext cx="9382368" cy="648746"/>
            <a:chOff x="0" y="-76200"/>
            <a:chExt cx="12509823" cy="864995"/>
          </a:xfrm>
        </p:grpSpPr>
        <p:sp>
          <p:nvSpPr>
            <p:cNvPr id="73" name="AutoShape 51">
              <a:extLst>
                <a:ext uri="{FF2B5EF4-FFF2-40B4-BE49-F238E27FC236}">
                  <a16:creationId xmlns:a16="http://schemas.microsoft.com/office/drawing/2014/main" id="{6B32F536-078F-5834-E187-F3890D695FD2}"/>
                </a:ext>
              </a:extLst>
            </p:cNvPr>
            <p:cNvSpPr/>
            <p:nvPr/>
          </p:nvSpPr>
          <p:spPr>
            <a:xfrm>
              <a:off x="0" y="50892"/>
              <a:ext cx="697358" cy="681256"/>
            </a:xfrm>
            <a:prstGeom prst="rect">
              <a:avLst/>
            </a:prstGeom>
            <a:solidFill>
              <a:srgbClr val="005E60"/>
            </a:solidFill>
          </p:spPr>
          <p:txBody>
            <a:bodyPr/>
            <a:lstStyle/>
            <a:p>
              <a:endParaRPr lang="en-US"/>
            </a:p>
          </p:txBody>
        </p:sp>
        <p:sp>
          <p:nvSpPr>
            <p:cNvPr id="74" name="TextBox 52">
              <a:extLst>
                <a:ext uri="{FF2B5EF4-FFF2-40B4-BE49-F238E27FC236}">
                  <a16:creationId xmlns:a16="http://schemas.microsoft.com/office/drawing/2014/main" id="{A1C0EB3B-349E-1F34-7842-0782BC6AB4E4}"/>
                </a:ext>
              </a:extLst>
            </p:cNvPr>
            <p:cNvSpPr txBox="1"/>
            <p:nvPr/>
          </p:nvSpPr>
          <p:spPr>
            <a:xfrm>
              <a:off x="65852" y="139911"/>
              <a:ext cx="565653" cy="465119"/>
            </a:xfrm>
            <a:prstGeom prst="rect">
              <a:avLst/>
            </a:prstGeom>
          </p:spPr>
          <p:txBody>
            <a:bodyPr lIns="0" tIns="0" rIns="0" bIns="0" rtlCol="0" anchor="t">
              <a:spAutoFit/>
            </a:bodyPr>
            <a:lstStyle/>
            <a:p>
              <a:pPr algn="ctr">
                <a:lnSpc>
                  <a:spcPts val="3045"/>
                </a:lnSpc>
                <a:spcBef>
                  <a:spcPct val="0"/>
                </a:spcBef>
              </a:pPr>
              <a:r>
                <a:rPr lang="en-US" sz="2175" dirty="0">
                  <a:solidFill>
                    <a:srgbClr val="FFFFFF"/>
                  </a:solidFill>
                  <a:latin typeface="Arial" panose="020B0604020202020204" pitchFamily="34" charset="0"/>
                  <a:cs typeface="Arial" panose="020B0604020202020204" pitchFamily="34" charset="0"/>
                </a:rPr>
                <a:t>3</a:t>
              </a:r>
            </a:p>
          </p:txBody>
        </p:sp>
        <p:sp>
          <p:nvSpPr>
            <p:cNvPr id="75" name="TextBox 53">
              <a:extLst>
                <a:ext uri="{FF2B5EF4-FFF2-40B4-BE49-F238E27FC236}">
                  <a16:creationId xmlns:a16="http://schemas.microsoft.com/office/drawing/2014/main" id="{CDA8FC6D-CFD2-63DE-E704-A93D0D494EAB}"/>
                </a:ext>
              </a:extLst>
            </p:cNvPr>
            <p:cNvSpPr txBox="1"/>
            <p:nvPr/>
          </p:nvSpPr>
          <p:spPr>
            <a:xfrm>
              <a:off x="1090129" y="-76200"/>
              <a:ext cx="11419694" cy="864995"/>
            </a:xfrm>
            <a:prstGeom prst="rect">
              <a:avLst/>
            </a:prstGeom>
          </p:spPr>
          <p:txBody>
            <a:bodyPr lIns="0" tIns="0" rIns="0" bIns="0" rtlCol="0" anchor="t">
              <a:spAutoFit/>
            </a:bodyPr>
            <a:lstStyle/>
            <a:p>
              <a:pPr marL="0" lvl="0" indent="0" algn="l">
                <a:lnSpc>
                  <a:spcPts val="5456"/>
                </a:lnSpc>
                <a:spcBef>
                  <a:spcPct val="0"/>
                </a:spcBef>
              </a:pPr>
              <a:r>
                <a:rPr lang="en-US" sz="3897" dirty="0">
                  <a:solidFill>
                    <a:srgbClr val="403B3B"/>
                  </a:solidFill>
                  <a:latin typeface="Arial" panose="020B0604020202020204" pitchFamily="34" charset="0"/>
                  <a:cs typeface="Arial" panose="020B0604020202020204" pitchFamily="34" charset="0"/>
                </a:rPr>
                <a:t>Line building progress tracker</a:t>
              </a:r>
            </a:p>
          </p:txBody>
        </p:sp>
      </p:grpSp>
      <p:pic>
        <p:nvPicPr>
          <p:cNvPr id="77" name="Picture 76">
            <a:extLst>
              <a:ext uri="{FF2B5EF4-FFF2-40B4-BE49-F238E27FC236}">
                <a16:creationId xmlns:a16="http://schemas.microsoft.com/office/drawing/2014/main" id="{93EF281C-5434-F22C-DD79-B621E806A4BC}"/>
              </a:ext>
            </a:extLst>
          </p:cNvPr>
          <p:cNvPicPr>
            <a:picLocks noChangeAspect="1"/>
          </p:cNvPicPr>
          <p:nvPr/>
        </p:nvPicPr>
        <p:blipFill>
          <a:blip r:embed="rId5"/>
          <a:stretch>
            <a:fillRect/>
          </a:stretch>
        </p:blipFill>
        <p:spPr>
          <a:xfrm>
            <a:off x="892535" y="24490517"/>
            <a:ext cx="13444354" cy="3288062"/>
          </a:xfrm>
          <a:prstGeom prst="rect">
            <a:avLst/>
          </a:prstGeom>
        </p:spPr>
      </p:pic>
      <p:pic>
        <p:nvPicPr>
          <p:cNvPr id="86" name="Picture 85">
            <a:extLst>
              <a:ext uri="{FF2B5EF4-FFF2-40B4-BE49-F238E27FC236}">
                <a16:creationId xmlns:a16="http://schemas.microsoft.com/office/drawing/2014/main" id="{A5513D79-76A7-1F8E-D23F-68180A0A3A7B}"/>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b="33972"/>
          <a:stretch>
            <a:fillRect/>
          </a:stretch>
        </p:blipFill>
        <p:spPr bwMode="auto">
          <a:xfrm>
            <a:off x="14585099" y="20532950"/>
            <a:ext cx="5904910" cy="7131687"/>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87">
            <a:extLst>
              <a:ext uri="{FF2B5EF4-FFF2-40B4-BE49-F238E27FC236}">
                <a16:creationId xmlns:a16="http://schemas.microsoft.com/office/drawing/2014/main" id="{0D3A2C13-4ED1-E924-D79B-50EFA60A8DDE}"/>
              </a:ext>
            </a:extLst>
          </p:cNvPr>
          <p:cNvPicPr>
            <a:picLocks noChangeAspect="1"/>
          </p:cNvPicPr>
          <p:nvPr/>
        </p:nvPicPr>
        <p:blipFill>
          <a:blip r:embed="rId7"/>
          <a:stretch>
            <a:fillRect/>
          </a:stretch>
        </p:blipFill>
        <p:spPr>
          <a:xfrm>
            <a:off x="892535" y="18992715"/>
            <a:ext cx="13444354" cy="4995068"/>
          </a:xfrm>
          <a:prstGeom prst="rect">
            <a:avLst/>
          </a:prstGeom>
        </p:spPr>
      </p:pic>
      <p:sp>
        <p:nvSpPr>
          <p:cNvPr id="98" name="Operations section frame 3">
            <a:extLst>
              <a:ext uri="{FF2B5EF4-FFF2-40B4-BE49-F238E27FC236}">
                <a16:creationId xmlns:a16="http://schemas.microsoft.com/office/drawing/2014/main" id="{86949AF2-D71D-A040-8E6A-CD2883FE3F21}"/>
              </a:ext>
            </a:extLst>
          </p:cNvPr>
          <p:cNvSpPr>
            <a:spLocks noGrp="1"/>
          </p:cNvSpPr>
          <p:nvPr/>
        </p:nvSpPr>
        <p:spPr>
          <a:xfrm>
            <a:off x="1424382" y="7449998"/>
            <a:ext cx="5625370" cy="5962650"/>
          </a:xfrm>
          <a:prstGeom prst="rect">
            <a:avLst/>
          </a:prstGeom>
          <a:solidFill>
            <a:srgbClr val="EEF6F4"/>
          </a:solidFill>
          <a:ln w="38100">
            <a:solidFill>
              <a:srgbClr val="005E60"/>
            </a:solidFill>
            <a:prstDash val="solid"/>
          </a:ln>
        </p:spPr>
        <p:txBody>
          <a:bodyPr/>
          <a:lstStyle/>
          <a:p>
            <a:endParaRPr lang="en-SG"/>
          </a:p>
        </p:txBody>
      </p:sp>
      <p:graphicFrame>
        <p:nvGraphicFramePr>
          <p:cNvPr id="100" name="Operator support">
            <a:extLst>
              <a:ext uri="{FF2B5EF4-FFF2-40B4-BE49-F238E27FC236}">
                <a16:creationId xmlns:a16="http://schemas.microsoft.com/office/drawing/2014/main" id="{D31001E4-1F14-910C-6DFA-629161F95DCC}"/>
              </a:ext>
            </a:extLst>
          </p:cNvPr>
          <p:cNvGraphicFramePr/>
          <p:nvPr>
            <p:extLst>
              <p:ext uri="{D42A27DB-BD31-4B8C-83A1-F6EECF244321}">
                <p14:modId xmlns:p14="http://schemas.microsoft.com/office/powerpoint/2010/main" val="1225916941"/>
              </p:ext>
            </p:extLst>
          </p:nvPr>
        </p:nvGraphicFramePr>
        <p:xfrm>
          <a:off x="1710132" y="7735748"/>
          <a:ext cx="5053870" cy="5081873"/>
        </p:xfrm>
        <a:graphic>
          <a:graphicData uri="http://schemas.openxmlformats.org/drawingml/2006/table">
            <a:tbl>
              <a:tblPr/>
              <a:tblGrid>
                <a:gridCol w="5053870">
                  <a:extLst>
                    <a:ext uri="{9D8B030D-6E8A-4147-A177-3AD203B41FA5}">
                      <a16:colId xmlns:a16="http://schemas.microsoft.com/office/drawing/2014/main" val="20000"/>
                    </a:ext>
                  </a:extLst>
                </a:gridCol>
              </a:tblGrid>
              <a:tr h="591788">
                <a:tc>
                  <a:txBody>
                    <a:bodyPr/>
                    <a:lstStyle/>
                    <a:p>
                      <a:pPr algn="l">
                        <a:buNone/>
                      </a:pPr>
                      <a:r>
                        <a:rPr lang="en-SG" sz="2499" b="1" dirty="0">
                          <a:solidFill>
                            <a:srgbClr val="FFFFFF"/>
                          </a:solidFill>
                          <a:latin typeface="Arial"/>
                          <a:ea typeface="Arial"/>
                          <a:cs typeface="Arial"/>
                        </a:rPr>
                        <a:t>Operations </a:t>
                      </a:r>
                      <a:r>
                        <a:rPr sz="2499" b="1" dirty="0">
                          <a:solidFill>
                            <a:srgbClr val="FFFFFF"/>
                          </a:solidFill>
                          <a:latin typeface="Arial"/>
                          <a:ea typeface="Arial"/>
                          <a:cs typeface="Arial"/>
                        </a:rPr>
                        <a:t>support</a:t>
                      </a:r>
                    </a:p>
                  </a:txBody>
                  <a:tcPr anchor="ctr">
                    <a:lnL w="0">
                      <a:noFill/>
                      <a:prstDash val="solid"/>
                    </a:lnL>
                    <a:lnR w="0">
                      <a:noFill/>
                      <a:prstDash val="solid"/>
                    </a:lnR>
                    <a:lnT w="0">
                      <a:noFill/>
                      <a:prstDash val="solid"/>
                    </a:lnT>
                    <a:lnB w="0">
                      <a:noFill/>
                      <a:prstDash val="solid"/>
                    </a:lnB>
                    <a:solidFill>
                      <a:srgbClr val="005E60"/>
                    </a:solidFill>
                  </a:tcPr>
                </a:tc>
                <a:extLst>
                  <a:ext uri="{0D108BD9-81ED-4DB2-BD59-A6C34878D82A}">
                    <a16:rowId xmlns:a16="http://schemas.microsoft.com/office/drawing/2014/main" val="10000"/>
                  </a:ext>
                </a:extLst>
              </a:tr>
              <a:tr h="923925">
                <a:tc>
                  <a:txBody>
                    <a:bodyPr/>
                    <a:lstStyle/>
                    <a:p>
                      <a:pPr algn="l">
                        <a:buNone/>
                      </a:pPr>
                      <a:r>
                        <a:rPr sz="2400" b="1" dirty="0" err="1">
                          <a:solidFill>
                            <a:srgbClr val="403B3B"/>
                          </a:solidFill>
                          <a:latin typeface="Arial"/>
                          <a:ea typeface="Arial"/>
                          <a:cs typeface="Arial"/>
                        </a:rPr>
                        <a:t>eLM</a:t>
                      </a:r>
                      <a:r>
                        <a:rPr sz="2400" b="1" dirty="0">
                          <a:solidFill>
                            <a:srgbClr val="403B3B"/>
                          </a:solidFill>
                          <a:latin typeface="Arial"/>
                          <a:ea typeface="Arial"/>
                          <a:cs typeface="Arial"/>
                        </a:rPr>
                        <a:t> access</a:t>
                      </a:r>
                    </a:p>
                    <a:p>
                      <a:pPr algn="l">
                        <a:buNone/>
                      </a:pPr>
                      <a:r>
                        <a:rPr lang="en-SG" sz="2400" b="0" dirty="0">
                          <a:solidFill>
                            <a:srgbClr val="403B3B"/>
                          </a:solidFill>
                          <a:latin typeface="Arial"/>
                          <a:ea typeface="Arial"/>
                          <a:cs typeface="Arial"/>
                        </a:rPr>
                        <a:t>Setting up and teaching operators how to use</a:t>
                      </a:r>
                      <a:endParaRPr sz="2400" b="0" dirty="0">
                        <a:solidFill>
                          <a:srgbClr val="403B3B"/>
                        </a:solidFill>
                        <a:latin typeface="Arial"/>
                        <a:ea typeface="Arial"/>
                        <a:cs typeface="Arial"/>
                      </a:endParaRPr>
                    </a:p>
                  </a:txBody>
                  <a:tcPr anchor="ctr">
                    <a:lnL w="0">
                      <a:noFill/>
                      <a:prstDash val="solid"/>
                    </a:lnL>
                    <a:lnR w="0">
                      <a:noFill/>
                      <a:prstDash val="solid"/>
                    </a:lnR>
                    <a:lnT>
                      <a:noFill/>
                    </a:lnT>
                    <a:lnB w="0">
                      <a:noFill/>
                      <a:prstDash val="solid"/>
                    </a:lnB>
                    <a:solidFill>
                      <a:srgbClr val="EEF6F4"/>
                    </a:solidFill>
                  </a:tcPr>
                </a:tc>
                <a:extLst>
                  <a:ext uri="{0D108BD9-81ED-4DB2-BD59-A6C34878D82A}">
                    <a16:rowId xmlns:a16="http://schemas.microsoft.com/office/drawing/2014/main" val="10001"/>
                  </a:ext>
                </a:extLst>
              </a:tr>
              <a:tr h="923925">
                <a:tc>
                  <a:txBody>
                    <a:bodyPr/>
                    <a:lstStyle/>
                    <a:p>
                      <a:pPr algn="l">
                        <a:buNone/>
                      </a:pPr>
                      <a:r>
                        <a:rPr lang="en-SG" sz="2400" b="1" dirty="0" err="1">
                          <a:solidFill>
                            <a:srgbClr val="403B3B"/>
                          </a:solidFill>
                          <a:latin typeface="Arial"/>
                          <a:ea typeface="Arial"/>
                          <a:cs typeface="Arial"/>
                        </a:rPr>
                        <a:t>BiQ</a:t>
                      </a:r>
                      <a:r>
                        <a:rPr lang="en-SG" sz="2400" b="1" dirty="0">
                          <a:solidFill>
                            <a:srgbClr val="403B3B"/>
                          </a:solidFill>
                          <a:latin typeface="Arial"/>
                          <a:ea typeface="Arial"/>
                          <a:cs typeface="Arial"/>
                        </a:rPr>
                        <a:t> board updates</a:t>
                      </a:r>
                      <a:endParaRPr sz="2400" b="1" dirty="0">
                        <a:solidFill>
                          <a:srgbClr val="403B3B"/>
                        </a:solidFill>
                        <a:latin typeface="Arial"/>
                        <a:ea typeface="Arial"/>
                        <a:cs typeface="Arial"/>
                      </a:endParaRPr>
                    </a:p>
                    <a:p>
                      <a:pPr algn="l">
                        <a:buNone/>
                      </a:pPr>
                      <a:r>
                        <a:rPr lang="en-SG" sz="2400" b="0" dirty="0">
                          <a:solidFill>
                            <a:srgbClr val="403B3B"/>
                          </a:solidFill>
                          <a:latin typeface="Arial"/>
                          <a:ea typeface="Arial"/>
                          <a:cs typeface="Arial"/>
                        </a:rPr>
                        <a:t>Update visual charts for Daily Management Meetings</a:t>
                      </a:r>
                      <a:endParaRPr sz="2400" b="0" dirty="0">
                        <a:solidFill>
                          <a:srgbClr val="403B3B"/>
                        </a:solidFill>
                        <a:latin typeface="Arial"/>
                        <a:ea typeface="Arial"/>
                        <a:cs typeface="Arial"/>
                      </a:endParaRPr>
                    </a:p>
                  </a:txBody>
                  <a:tcPr anchor="ctr">
                    <a:lnL w="0">
                      <a:noFill/>
                      <a:prstDash val="solid"/>
                    </a:lnL>
                    <a:lnR w="0">
                      <a:noFill/>
                      <a:prstDash val="solid"/>
                    </a:lnR>
                    <a:lnT>
                      <a:noFill/>
                    </a:lnT>
                    <a:lnB w="0">
                      <a:noFill/>
                      <a:prstDash val="solid"/>
                    </a:lnB>
                    <a:solidFill>
                      <a:srgbClr val="FFFFFF"/>
                    </a:solidFill>
                  </a:tcPr>
                </a:tc>
                <a:extLst>
                  <a:ext uri="{0D108BD9-81ED-4DB2-BD59-A6C34878D82A}">
                    <a16:rowId xmlns:a16="http://schemas.microsoft.com/office/drawing/2014/main" val="10002"/>
                  </a:ext>
                </a:extLst>
              </a:tr>
              <a:tr h="923925">
                <a:tc>
                  <a:txBody>
                    <a:bodyPr/>
                    <a:lstStyle/>
                    <a:p>
                      <a:pPr algn="l">
                        <a:buNone/>
                      </a:pPr>
                      <a:r>
                        <a:rPr sz="2400" b="1" dirty="0" err="1">
                          <a:solidFill>
                            <a:srgbClr val="403B3B"/>
                          </a:solidFill>
                          <a:latin typeface="Arial"/>
                          <a:ea typeface="Arial"/>
                          <a:cs typeface="Arial"/>
                        </a:rPr>
                        <a:t>eOJT</a:t>
                      </a:r>
                      <a:r>
                        <a:rPr sz="2400" b="1" dirty="0">
                          <a:solidFill>
                            <a:srgbClr val="403B3B"/>
                          </a:solidFill>
                          <a:latin typeface="Arial"/>
                          <a:ea typeface="Arial"/>
                          <a:cs typeface="Arial"/>
                        </a:rPr>
                        <a:t> assessment</a:t>
                      </a:r>
                    </a:p>
                    <a:p>
                      <a:pPr algn="l">
                        <a:buNone/>
                      </a:pPr>
                      <a:r>
                        <a:rPr sz="2400" b="0" dirty="0">
                          <a:solidFill>
                            <a:srgbClr val="403B3B"/>
                          </a:solidFill>
                          <a:latin typeface="Arial"/>
                          <a:ea typeface="Arial"/>
                          <a:cs typeface="Arial"/>
                        </a:rPr>
                        <a:t>Scheduled outstanding </a:t>
                      </a:r>
                      <a:r>
                        <a:rPr lang="en-SG" sz="2400" b="0" dirty="0">
                          <a:solidFill>
                            <a:srgbClr val="403B3B"/>
                          </a:solidFill>
                          <a:latin typeface="Arial"/>
                          <a:ea typeface="Arial"/>
                          <a:cs typeface="Arial"/>
                        </a:rPr>
                        <a:t>assessment</a:t>
                      </a:r>
                      <a:endParaRPr sz="2400" b="0" dirty="0">
                        <a:solidFill>
                          <a:srgbClr val="403B3B"/>
                        </a:solidFill>
                        <a:latin typeface="Arial"/>
                        <a:ea typeface="Arial"/>
                        <a:cs typeface="Arial"/>
                      </a:endParaRPr>
                    </a:p>
                  </a:txBody>
                  <a:tcPr anchor="ctr">
                    <a:lnL w="0">
                      <a:noFill/>
                      <a:prstDash val="solid"/>
                    </a:lnL>
                    <a:lnR w="0">
                      <a:noFill/>
                      <a:prstDash val="solid"/>
                    </a:lnR>
                    <a:lnT>
                      <a:noFill/>
                    </a:lnT>
                    <a:lnB w="0">
                      <a:noFill/>
                      <a:prstDash val="solid"/>
                    </a:lnB>
                    <a:solidFill>
                      <a:srgbClr val="EEF6F4"/>
                    </a:solidFill>
                  </a:tcPr>
                </a:tc>
                <a:extLst>
                  <a:ext uri="{0D108BD9-81ED-4DB2-BD59-A6C34878D82A}">
                    <a16:rowId xmlns:a16="http://schemas.microsoft.com/office/drawing/2014/main" val="10003"/>
                  </a:ext>
                </a:extLst>
              </a:tr>
              <a:tr h="923925">
                <a:tc>
                  <a:txBody>
                    <a:bodyPr/>
                    <a:lstStyle/>
                    <a:p>
                      <a:pPr algn="l">
                        <a:buNone/>
                      </a:pPr>
                      <a:r>
                        <a:rPr lang="en-SG" sz="2400" b="1" dirty="0">
                          <a:solidFill>
                            <a:srgbClr val="403B3B"/>
                          </a:solidFill>
                          <a:latin typeface="Arial"/>
                          <a:ea typeface="Arial"/>
                          <a:cs typeface="Arial"/>
                        </a:rPr>
                        <a:t>Job hours tracking</a:t>
                      </a:r>
                      <a:endParaRPr sz="2400" b="1" dirty="0">
                        <a:solidFill>
                          <a:srgbClr val="403B3B"/>
                        </a:solidFill>
                        <a:latin typeface="Arial"/>
                        <a:ea typeface="Arial"/>
                        <a:cs typeface="Arial"/>
                      </a:endParaRPr>
                    </a:p>
                    <a:p>
                      <a:pPr algn="l">
                        <a:buNone/>
                      </a:pPr>
                      <a:r>
                        <a:rPr lang="en-SG" sz="2400" b="0" dirty="0">
                          <a:solidFill>
                            <a:srgbClr val="403B3B"/>
                          </a:solidFill>
                          <a:latin typeface="Arial"/>
                          <a:ea typeface="Arial"/>
                          <a:cs typeface="Arial"/>
                        </a:rPr>
                        <a:t>Create Smartsheet form for tracking when system was down</a:t>
                      </a:r>
                      <a:endParaRPr sz="2400" b="0" dirty="0">
                        <a:solidFill>
                          <a:srgbClr val="403B3B"/>
                        </a:solidFill>
                        <a:latin typeface="Arial"/>
                        <a:ea typeface="Arial"/>
                        <a:cs typeface="Arial"/>
                      </a:endParaRPr>
                    </a:p>
                  </a:txBody>
                  <a:tcPr anchor="ctr">
                    <a:lnL w="0">
                      <a:noFill/>
                      <a:prstDash val="solid"/>
                    </a:lnL>
                    <a:lnR w="0">
                      <a:noFill/>
                      <a:prstDash val="solid"/>
                    </a:lnR>
                    <a:lnT>
                      <a:noFill/>
                    </a:lnT>
                    <a:lnB w="0">
                      <a:noFill/>
                      <a:prstDash val="solid"/>
                    </a:lnB>
                    <a:solidFill>
                      <a:srgbClr val="FFFFFF"/>
                    </a:solidFill>
                  </a:tcPr>
                </a:tc>
                <a:extLst>
                  <a:ext uri="{0D108BD9-81ED-4DB2-BD59-A6C34878D82A}">
                    <a16:rowId xmlns:a16="http://schemas.microsoft.com/office/drawing/2014/main" val="10004"/>
                  </a:ext>
                </a:extLst>
              </a:tr>
            </a:tbl>
          </a:graphicData>
        </a:graphic>
      </p:graphicFrame>
      <p:sp>
        <p:nvSpPr>
          <p:cNvPr id="105" name="Operations section frame 2">
            <a:extLst>
              <a:ext uri="{FF2B5EF4-FFF2-40B4-BE49-F238E27FC236}">
                <a16:creationId xmlns:a16="http://schemas.microsoft.com/office/drawing/2014/main" id="{1C14548D-C42F-7A9B-7518-47480D6240C7}"/>
              </a:ext>
            </a:extLst>
          </p:cNvPr>
          <p:cNvSpPr>
            <a:spLocks noGrp="1"/>
          </p:cNvSpPr>
          <p:nvPr/>
        </p:nvSpPr>
        <p:spPr>
          <a:xfrm>
            <a:off x="7727386" y="7449998"/>
            <a:ext cx="5625370" cy="5962650"/>
          </a:xfrm>
          <a:prstGeom prst="rect">
            <a:avLst/>
          </a:prstGeom>
          <a:solidFill>
            <a:srgbClr val="EEF6F4"/>
          </a:solidFill>
          <a:ln w="38100">
            <a:solidFill>
              <a:srgbClr val="005E60"/>
            </a:solidFill>
            <a:prstDash val="solid"/>
          </a:ln>
        </p:spPr>
        <p:txBody>
          <a:bodyPr/>
          <a:lstStyle/>
          <a:p>
            <a:endParaRPr lang="en-SG"/>
          </a:p>
        </p:txBody>
      </p:sp>
      <p:graphicFrame>
        <p:nvGraphicFramePr>
          <p:cNvPr id="107" name="Production planning">
            <a:extLst>
              <a:ext uri="{FF2B5EF4-FFF2-40B4-BE49-F238E27FC236}">
                <a16:creationId xmlns:a16="http://schemas.microsoft.com/office/drawing/2014/main" id="{62CC4F41-1D9B-239E-6C3A-5540FA8E7FAC}"/>
              </a:ext>
            </a:extLst>
          </p:cNvPr>
          <p:cNvGraphicFramePr/>
          <p:nvPr>
            <p:extLst>
              <p:ext uri="{D42A27DB-BD31-4B8C-83A1-F6EECF244321}">
                <p14:modId xmlns:p14="http://schemas.microsoft.com/office/powerpoint/2010/main" val="1800986490"/>
              </p:ext>
            </p:extLst>
          </p:nvPr>
        </p:nvGraphicFramePr>
        <p:xfrm>
          <a:off x="8013136" y="7735748"/>
          <a:ext cx="5053870" cy="4287488"/>
        </p:xfrm>
        <a:graphic>
          <a:graphicData uri="http://schemas.openxmlformats.org/drawingml/2006/table">
            <a:tbl>
              <a:tblPr/>
              <a:tblGrid>
                <a:gridCol w="5053870">
                  <a:extLst>
                    <a:ext uri="{9D8B030D-6E8A-4147-A177-3AD203B41FA5}">
                      <a16:colId xmlns:a16="http://schemas.microsoft.com/office/drawing/2014/main" val="20000"/>
                    </a:ext>
                  </a:extLst>
                </a:gridCol>
              </a:tblGrid>
              <a:tr h="591788">
                <a:tc>
                  <a:txBody>
                    <a:bodyPr/>
                    <a:lstStyle/>
                    <a:p>
                      <a:pPr algn="l">
                        <a:buNone/>
                      </a:pPr>
                      <a:r>
                        <a:rPr lang="en-SG" sz="2499" b="1" dirty="0">
                          <a:solidFill>
                            <a:srgbClr val="FFFFFF"/>
                          </a:solidFill>
                          <a:latin typeface="Arial"/>
                          <a:ea typeface="Arial"/>
                          <a:cs typeface="Arial"/>
                        </a:rPr>
                        <a:t>Lean transformation</a:t>
                      </a:r>
                      <a:endParaRPr sz="2499" b="1" dirty="0">
                        <a:solidFill>
                          <a:srgbClr val="FFFFFF"/>
                        </a:solidFill>
                        <a:latin typeface="Arial"/>
                        <a:ea typeface="Arial"/>
                        <a:cs typeface="Arial"/>
                      </a:endParaRPr>
                    </a:p>
                  </a:txBody>
                  <a:tcPr anchor="ctr">
                    <a:lnL w="0">
                      <a:noFill/>
                      <a:prstDash val="solid"/>
                    </a:lnL>
                    <a:lnR w="0">
                      <a:noFill/>
                      <a:prstDash val="solid"/>
                    </a:lnR>
                    <a:lnT w="0">
                      <a:noFill/>
                      <a:prstDash val="solid"/>
                    </a:lnT>
                    <a:lnB w="0">
                      <a:noFill/>
                      <a:prstDash val="solid"/>
                    </a:lnB>
                    <a:solidFill>
                      <a:srgbClr val="005E60"/>
                    </a:solidFill>
                  </a:tcPr>
                </a:tc>
                <a:extLst>
                  <a:ext uri="{0D108BD9-81ED-4DB2-BD59-A6C34878D82A}">
                    <a16:rowId xmlns:a16="http://schemas.microsoft.com/office/drawing/2014/main" val="10000"/>
                  </a:ext>
                </a:extLst>
              </a:tr>
              <a:tr h="923925">
                <a:tc>
                  <a:txBody>
                    <a:bodyPr/>
                    <a:lstStyle/>
                    <a:p>
                      <a:pPr algn="l">
                        <a:buNone/>
                      </a:pPr>
                      <a:r>
                        <a:rPr sz="2400" b="0" dirty="0">
                          <a:solidFill>
                            <a:srgbClr val="403B3B"/>
                          </a:solidFill>
                          <a:latin typeface="Arial"/>
                          <a:ea typeface="Arial"/>
                          <a:cs typeface="Arial"/>
                        </a:rPr>
                        <a:t>1. PQPR and cycle-time data</a:t>
                      </a:r>
                    </a:p>
                  </a:txBody>
                  <a:tcPr anchor="ctr">
                    <a:lnL w="0">
                      <a:noFill/>
                      <a:prstDash val="solid"/>
                    </a:lnL>
                    <a:lnR w="0">
                      <a:noFill/>
                      <a:prstDash val="solid"/>
                    </a:lnR>
                    <a:lnT>
                      <a:noFill/>
                    </a:lnT>
                    <a:lnB w="0">
                      <a:noFill/>
                      <a:prstDash val="solid"/>
                    </a:lnB>
                    <a:solidFill>
                      <a:srgbClr val="EEF6F4"/>
                    </a:solidFill>
                  </a:tcPr>
                </a:tc>
                <a:extLst>
                  <a:ext uri="{0D108BD9-81ED-4DB2-BD59-A6C34878D82A}">
                    <a16:rowId xmlns:a16="http://schemas.microsoft.com/office/drawing/2014/main" val="10001"/>
                  </a:ext>
                </a:extLst>
              </a:tr>
              <a:tr h="923925">
                <a:tc>
                  <a:txBody>
                    <a:bodyPr/>
                    <a:lstStyle/>
                    <a:p>
                      <a:pPr algn="l">
                        <a:buNone/>
                      </a:pPr>
                      <a:r>
                        <a:rPr sz="2400" b="0">
                          <a:solidFill>
                            <a:srgbClr val="403B3B"/>
                          </a:solidFill>
                          <a:latin typeface="Arial"/>
                          <a:ea typeface="Arial"/>
                          <a:cs typeface="Arial"/>
                        </a:rPr>
                        <a:t>2. Operator line balancing</a:t>
                      </a:r>
                    </a:p>
                  </a:txBody>
                  <a:tcPr anchor="ctr">
                    <a:lnL w="0">
                      <a:noFill/>
                      <a:prstDash val="solid"/>
                    </a:lnL>
                    <a:lnR w="0">
                      <a:noFill/>
                      <a:prstDash val="solid"/>
                    </a:lnR>
                    <a:lnT>
                      <a:noFill/>
                    </a:lnT>
                    <a:lnB w="0">
                      <a:noFill/>
                      <a:prstDash val="solid"/>
                    </a:lnB>
                    <a:solidFill>
                      <a:srgbClr val="FFFFFF"/>
                    </a:solidFill>
                  </a:tcPr>
                </a:tc>
                <a:extLst>
                  <a:ext uri="{0D108BD9-81ED-4DB2-BD59-A6C34878D82A}">
                    <a16:rowId xmlns:a16="http://schemas.microsoft.com/office/drawing/2014/main" val="10002"/>
                  </a:ext>
                </a:extLst>
              </a:tr>
              <a:tr h="923925">
                <a:tc>
                  <a:txBody>
                    <a:bodyPr/>
                    <a:lstStyle/>
                    <a:p>
                      <a:pPr algn="l">
                        <a:buNone/>
                      </a:pPr>
                      <a:r>
                        <a:rPr sz="2400" b="0" dirty="0">
                          <a:solidFill>
                            <a:srgbClr val="403B3B"/>
                          </a:solidFill>
                          <a:latin typeface="Arial"/>
                          <a:ea typeface="Arial"/>
                          <a:cs typeface="Arial"/>
                        </a:rPr>
                        <a:t>3. Physical tabletop review</a:t>
                      </a:r>
                    </a:p>
                  </a:txBody>
                  <a:tcPr anchor="ctr">
                    <a:lnL w="0">
                      <a:noFill/>
                      <a:prstDash val="solid"/>
                    </a:lnL>
                    <a:lnR w="0">
                      <a:noFill/>
                      <a:prstDash val="solid"/>
                    </a:lnR>
                    <a:lnT>
                      <a:noFill/>
                    </a:lnT>
                    <a:lnB w="0">
                      <a:noFill/>
                      <a:prstDash val="solid"/>
                    </a:lnB>
                    <a:solidFill>
                      <a:srgbClr val="EEF6F4"/>
                    </a:solidFill>
                  </a:tcPr>
                </a:tc>
                <a:extLst>
                  <a:ext uri="{0D108BD9-81ED-4DB2-BD59-A6C34878D82A}">
                    <a16:rowId xmlns:a16="http://schemas.microsoft.com/office/drawing/2014/main" val="10003"/>
                  </a:ext>
                </a:extLst>
              </a:tr>
              <a:tr h="923925">
                <a:tc>
                  <a:txBody>
                    <a:bodyPr/>
                    <a:lstStyle/>
                    <a:p>
                      <a:pPr algn="l">
                        <a:buNone/>
                      </a:pPr>
                      <a:r>
                        <a:rPr sz="2400" b="0" dirty="0">
                          <a:solidFill>
                            <a:srgbClr val="403B3B"/>
                          </a:solidFill>
                          <a:latin typeface="Arial"/>
                          <a:ea typeface="Arial"/>
                          <a:cs typeface="Arial"/>
                        </a:rPr>
                        <a:t>4. Prepare SWS and SWCS</a:t>
                      </a:r>
                    </a:p>
                  </a:txBody>
                  <a:tcPr anchor="ctr">
                    <a:lnL w="0">
                      <a:noFill/>
                      <a:prstDash val="solid"/>
                    </a:lnL>
                    <a:lnR w="0">
                      <a:noFill/>
                      <a:prstDash val="solid"/>
                    </a:lnR>
                    <a:lnT>
                      <a:noFill/>
                    </a:lnT>
                    <a:lnB w="0">
                      <a:noFill/>
                      <a:prstDash val="solid"/>
                    </a:lnB>
                    <a:solidFill>
                      <a:srgbClr val="FFFFFF"/>
                    </a:solidFill>
                  </a:tcPr>
                </a:tc>
                <a:extLst>
                  <a:ext uri="{0D108BD9-81ED-4DB2-BD59-A6C34878D82A}">
                    <a16:rowId xmlns:a16="http://schemas.microsoft.com/office/drawing/2014/main" val="10004"/>
                  </a:ext>
                </a:extLst>
              </a:tr>
            </a:tbl>
          </a:graphicData>
        </a:graphic>
      </p:graphicFrame>
      <p:sp>
        <p:nvSpPr>
          <p:cNvPr id="111" name="Operations section frame 1">
            <a:extLst>
              <a:ext uri="{FF2B5EF4-FFF2-40B4-BE49-F238E27FC236}">
                <a16:creationId xmlns:a16="http://schemas.microsoft.com/office/drawing/2014/main" id="{CFE4CAAF-9C09-F386-CBA4-9E74CEC0D305}"/>
              </a:ext>
            </a:extLst>
          </p:cNvPr>
          <p:cNvSpPr>
            <a:spLocks noGrp="1"/>
          </p:cNvSpPr>
          <p:nvPr/>
        </p:nvSpPr>
        <p:spPr>
          <a:xfrm>
            <a:off x="14030390" y="7449998"/>
            <a:ext cx="5625370" cy="5962650"/>
          </a:xfrm>
          <a:prstGeom prst="rect">
            <a:avLst/>
          </a:prstGeom>
          <a:solidFill>
            <a:srgbClr val="EEF6F4"/>
          </a:solidFill>
          <a:ln w="38100">
            <a:solidFill>
              <a:srgbClr val="005E60"/>
            </a:solidFill>
            <a:prstDash val="solid"/>
          </a:ln>
        </p:spPr>
        <p:txBody>
          <a:bodyPr/>
          <a:lstStyle/>
          <a:p>
            <a:endParaRPr lang="en-SG"/>
          </a:p>
        </p:txBody>
      </p:sp>
      <p:graphicFrame>
        <p:nvGraphicFramePr>
          <p:cNvPr id="113" name="Station builds">
            <a:extLst>
              <a:ext uri="{FF2B5EF4-FFF2-40B4-BE49-F238E27FC236}">
                <a16:creationId xmlns:a16="http://schemas.microsoft.com/office/drawing/2014/main" id="{5586C744-E792-91F2-17D4-5103F55AA0BA}"/>
              </a:ext>
            </a:extLst>
          </p:cNvPr>
          <p:cNvGraphicFramePr/>
          <p:nvPr>
            <p:extLst>
              <p:ext uri="{D42A27DB-BD31-4B8C-83A1-F6EECF244321}">
                <p14:modId xmlns:p14="http://schemas.microsoft.com/office/powerpoint/2010/main" val="1311735627"/>
              </p:ext>
            </p:extLst>
          </p:nvPr>
        </p:nvGraphicFramePr>
        <p:xfrm>
          <a:off x="14316140" y="7735748"/>
          <a:ext cx="5053870" cy="5081873"/>
        </p:xfrm>
        <a:graphic>
          <a:graphicData uri="http://schemas.openxmlformats.org/drawingml/2006/table">
            <a:tbl>
              <a:tblPr/>
              <a:tblGrid>
                <a:gridCol w="5053870">
                  <a:extLst>
                    <a:ext uri="{9D8B030D-6E8A-4147-A177-3AD203B41FA5}">
                      <a16:colId xmlns:a16="http://schemas.microsoft.com/office/drawing/2014/main" val="20000"/>
                    </a:ext>
                  </a:extLst>
                </a:gridCol>
              </a:tblGrid>
              <a:tr h="591788">
                <a:tc>
                  <a:txBody>
                    <a:bodyPr/>
                    <a:lstStyle/>
                    <a:p>
                      <a:pPr algn="l">
                        <a:buNone/>
                      </a:pPr>
                      <a:r>
                        <a:rPr lang="en-SG" sz="2499" b="1" dirty="0">
                          <a:solidFill>
                            <a:srgbClr val="FFFFFF"/>
                          </a:solidFill>
                          <a:latin typeface="Arial"/>
                          <a:ea typeface="Arial"/>
                          <a:cs typeface="Arial"/>
                        </a:rPr>
                        <a:t>Line</a:t>
                      </a:r>
                      <a:r>
                        <a:rPr sz="2499" b="1" dirty="0">
                          <a:solidFill>
                            <a:srgbClr val="FFFFFF"/>
                          </a:solidFill>
                          <a:latin typeface="Arial"/>
                          <a:ea typeface="Arial"/>
                          <a:cs typeface="Arial"/>
                        </a:rPr>
                        <a:t> build</a:t>
                      </a:r>
                      <a:r>
                        <a:rPr lang="en-SG" sz="2499" b="1" dirty="0" err="1">
                          <a:solidFill>
                            <a:srgbClr val="FFFFFF"/>
                          </a:solidFill>
                          <a:latin typeface="Arial"/>
                          <a:ea typeface="Arial"/>
                          <a:cs typeface="Arial"/>
                        </a:rPr>
                        <a:t>ing</a:t>
                      </a:r>
                      <a:endParaRPr sz="2499" b="1" dirty="0">
                        <a:solidFill>
                          <a:srgbClr val="FFFFFF"/>
                        </a:solidFill>
                        <a:latin typeface="Arial"/>
                        <a:ea typeface="Arial"/>
                        <a:cs typeface="Arial"/>
                      </a:endParaRPr>
                    </a:p>
                  </a:txBody>
                  <a:tcPr anchor="ctr">
                    <a:lnL w="0">
                      <a:noFill/>
                      <a:prstDash val="solid"/>
                    </a:lnL>
                    <a:lnR w="0">
                      <a:noFill/>
                      <a:prstDash val="solid"/>
                    </a:lnR>
                    <a:lnT w="0">
                      <a:noFill/>
                      <a:prstDash val="solid"/>
                    </a:lnT>
                    <a:lnB w="0">
                      <a:noFill/>
                      <a:prstDash val="solid"/>
                    </a:lnB>
                    <a:solidFill>
                      <a:srgbClr val="005E60"/>
                    </a:solidFill>
                  </a:tcPr>
                </a:tc>
                <a:extLst>
                  <a:ext uri="{0D108BD9-81ED-4DB2-BD59-A6C34878D82A}">
                    <a16:rowId xmlns:a16="http://schemas.microsoft.com/office/drawing/2014/main" val="10000"/>
                  </a:ext>
                </a:extLst>
              </a:tr>
              <a:tr h="923925">
                <a:tc>
                  <a:txBody>
                    <a:bodyPr/>
                    <a:lstStyle/>
                    <a:p>
                      <a:pPr algn="l">
                        <a:buNone/>
                      </a:pPr>
                      <a:r>
                        <a:rPr lang="en-SG" sz="2400" b="1" dirty="0">
                          <a:solidFill>
                            <a:srgbClr val="403B3B"/>
                          </a:solidFill>
                          <a:latin typeface="Arial"/>
                          <a:ea typeface="Arial"/>
                          <a:cs typeface="Arial"/>
                        </a:rPr>
                        <a:t>Manual stations</a:t>
                      </a:r>
                    </a:p>
                    <a:p>
                      <a:pPr algn="l">
                        <a:buNone/>
                      </a:pPr>
                      <a:r>
                        <a:rPr lang="en-SG" sz="2400" b="0" dirty="0">
                          <a:solidFill>
                            <a:srgbClr val="403B3B"/>
                          </a:solidFill>
                          <a:latin typeface="Arial"/>
                          <a:ea typeface="Arial"/>
                          <a:cs typeface="Arial"/>
                        </a:rPr>
                        <a:t>Manual process stations used by operators </a:t>
                      </a:r>
                      <a:endParaRPr sz="2400" b="0" dirty="0">
                        <a:solidFill>
                          <a:srgbClr val="403B3B"/>
                        </a:solidFill>
                        <a:latin typeface="Arial"/>
                        <a:ea typeface="Arial"/>
                        <a:cs typeface="Arial"/>
                      </a:endParaRPr>
                    </a:p>
                  </a:txBody>
                  <a:tcPr anchor="ctr">
                    <a:lnL w="0">
                      <a:noFill/>
                      <a:prstDash val="solid"/>
                    </a:lnL>
                    <a:lnR w="0">
                      <a:noFill/>
                      <a:prstDash val="solid"/>
                    </a:lnR>
                    <a:lnT>
                      <a:noFill/>
                    </a:lnT>
                    <a:lnB w="0">
                      <a:noFill/>
                      <a:prstDash val="solid"/>
                    </a:lnB>
                    <a:solidFill>
                      <a:srgbClr val="EEF6F4"/>
                    </a:solidFill>
                  </a:tcPr>
                </a:tc>
                <a:extLst>
                  <a:ext uri="{0D108BD9-81ED-4DB2-BD59-A6C34878D82A}">
                    <a16:rowId xmlns:a16="http://schemas.microsoft.com/office/drawing/2014/main" val="10001"/>
                  </a:ext>
                </a:extLst>
              </a:tr>
              <a:tr h="923925">
                <a:tc>
                  <a:txBody>
                    <a:bodyPr/>
                    <a:lstStyle/>
                    <a:p>
                      <a:pPr algn="l">
                        <a:buNone/>
                      </a:pPr>
                      <a:r>
                        <a:rPr lang="en-SG" sz="2400" b="1" dirty="0">
                          <a:solidFill>
                            <a:srgbClr val="403B3B"/>
                          </a:solidFill>
                          <a:latin typeface="Arial"/>
                          <a:ea typeface="Arial"/>
                          <a:cs typeface="Arial"/>
                        </a:rPr>
                        <a:t>Conveyors</a:t>
                      </a:r>
                      <a:r>
                        <a:rPr lang="en-SG" sz="2400" b="0" dirty="0">
                          <a:solidFill>
                            <a:srgbClr val="403B3B"/>
                          </a:solidFill>
                          <a:latin typeface="Arial"/>
                          <a:ea typeface="Arial"/>
                          <a:cs typeface="Arial"/>
                        </a:rPr>
                        <a:t> </a:t>
                      </a:r>
                      <a:br>
                        <a:rPr lang="en-SG" sz="2400" b="0" dirty="0">
                          <a:solidFill>
                            <a:srgbClr val="403B3B"/>
                          </a:solidFill>
                          <a:latin typeface="Arial"/>
                          <a:ea typeface="Arial"/>
                          <a:cs typeface="Arial"/>
                        </a:rPr>
                      </a:br>
                      <a:r>
                        <a:rPr lang="en-SG" sz="2400" b="0" dirty="0">
                          <a:solidFill>
                            <a:srgbClr val="403B3B"/>
                          </a:solidFill>
                          <a:latin typeface="Arial"/>
                          <a:ea typeface="Arial"/>
                          <a:cs typeface="Arial"/>
                        </a:rPr>
                        <a:t>Facilitate station to station product transfer</a:t>
                      </a:r>
                      <a:endParaRPr sz="2400" b="0" dirty="0">
                        <a:solidFill>
                          <a:srgbClr val="403B3B"/>
                        </a:solidFill>
                        <a:latin typeface="Arial"/>
                        <a:ea typeface="Arial"/>
                        <a:cs typeface="Arial"/>
                      </a:endParaRPr>
                    </a:p>
                  </a:txBody>
                  <a:tcPr anchor="ctr">
                    <a:lnL w="0">
                      <a:noFill/>
                      <a:prstDash val="solid"/>
                    </a:lnL>
                    <a:lnR w="0">
                      <a:noFill/>
                      <a:prstDash val="solid"/>
                    </a:lnR>
                    <a:lnT>
                      <a:noFill/>
                    </a:lnT>
                    <a:lnB w="0">
                      <a:noFill/>
                      <a:prstDash val="solid"/>
                    </a:lnB>
                    <a:solidFill>
                      <a:srgbClr val="FFFFFF"/>
                    </a:solidFill>
                  </a:tcPr>
                </a:tc>
                <a:extLst>
                  <a:ext uri="{0D108BD9-81ED-4DB2-BD59-A6C34878D82A}">
                    <a16:rowId xmlns:a16="http://schemas.microsoft.com/office/drawing/2014/main" val="10002"/>
                  </a:ext>
                </a:extLst>
              </a:tr>
              <a:tr h="923925">
                <a:tc>
                  <a:txBody>
                    <a:bodyPr/>
                    <a:lstStyle/>
                    <a:p>
                      <a:pPr algn="l">
                        <a:buNone/>
                      </a:pPr>
                      <a:r>
                        <a:rPr lang="en-SG" sz="2400" b="1" dirty="0">
                          <a:solidFill>
                            <a:srgbClr val="403B3B"/>
                          </a:solidFill>
                          <a:latin typeface="Arial"/>
                          <a:ea typeface="Arial"/>
                          <a:cs typeface="Arial"/>
                        </a:rPr>
                        <a:t>Trolleys</a:t>
                      </a:r>
                    </a:p>
                    <a:p>
                      <a:pPr algn="l">
                        <a:buNone/>
                      </a:pPr>
                      <a:r>
                        <a:rPr lang="en-SG" sz="2400" b="0" dirty="0">
                          <a:solidFill>
                            <a:srgbClr val="403B3B"/>
                          </a:solidFill>
                          <a:latin typeface="Arial"/>
                          <a:ea typeface="Arial"/>
                          <a:cs typeface="Arial"/>
                        </a:rPr>
                        <a:t>Out of line product transportation</a:t>
                      </a:r>
                      <a:endParaRPr sz="2400" b="0" dirty="0">
                        <a:solidFill>
                          <a:srgbClr val="403B3B"/>
                        </a:solidFill>
                        <a:latin typeface="Arial"/>
                        <a:ea typeface="Arial"/>
                        <a:cs typeface="Arial"/>
                      </a:endParaRPr>
                    </a:p>
                  </a:txBody>
                  <a:tcPr anchor="ctr">
                    <a:lnL w="0">
                      <a:noFill/>
                      <a:prstDash val="solid"/>
                    </a:lnL>
                    <a:lnR w="0">
                      <a:noFill/>
                      <a:prstDash val="solid"/>
                    </a:lnR>
                    <a:lnT>
                      <a:noFill/>
                    </a:lnT>
                    <a:lnB w="0">
                      <a:noFill/>
                      <a:prstDash val="solid"/>
                    </a:lnB>
                    <a:solidFill>
                      <a:srgbClr val="EEF6F4"/>
                    </a:solidFill>
                  </a:tcPr>
                </a:tc>
                <a:extLst>
                  <a:ext uri="{0D108BD9-81ED-4DB2-BD59-A6C34878D82A}">
                    <a16:rowId xmlns:a16="http://schemas.microsoft.com/office/drawing/2014/main" val="10003"/>
                  </a:ext>
                </a:extLst>
              </a:tr>
              <a:tr h="923925">
                <a:tc>
                  <a:txBody>
                    <a:bodyPr/>
                    <a:lstStyle/>
                    <a:p>
                      <a:pPr algn="l">
                        <a:buNone/>
                      </a:pPr>
                      <a:r>
                        <a:rPr lang="en-SG" sz="2400" b="1" dirty="0">
                          <a:solidFill>
                            <a:srgbClr val="403B3B"/>
                          </a:solidFill>
                          <a:latin typeface="Arial"/>
                          <a:ea typeface="Arial"/>
                          <a:cs typeface="Arial"/>
                        </a:rPr>
                        <a:t>Point-of-use boards</a:t>
                      </a:r>
                    </a:p>
                    <a:p>
                      <a:pPr algn="l">
                        <a:buNone/>
                      </a:pPr>
                      <a:r>
                        <a:rPr lang="en-SG" sz="2400" b="0" dirty="0">
                          <a:solidFill>
                            <a:srgbClr val="403B3B"/>
                          </a:solidFill>
                          <a:latin typeface="Arial"/>
                          <a:ea typeface="Arial"/>
                          <a:cs typeface="Arial"/>
                        </a:rPr>
                        <a:t>Clear visibility and accessibility to tools</a:t>
                      </a:r>
                    </a:p>
                  </a:txBody>
                  <a:tcPr anchor="ctr">
                    <a:lnL w="0">
                      <a:noFill/>
                      <a:prstDash val="solid"/>
                    </a:lnL>
                    <a:lnR w="0">
                      <a:noFill/>
                      <a:prstDash val="solid"/>
                    </a:lnR>
                    <a:lnT>
                      <a:noFill/>
                    </a:lnT>
                    <a:lnB w="0">
                      <a:noFill/>
                      <a:prstDash val="solid"/>
                    </a:lnB>
                    <a:solidFill>
                      <a:srgbClr val="FFFFFF"/>
                    </a:solidFill>
                  </a:tcPr>
                </a:tc>
                <a:extLst>
                  <a:ext uri="{0D108BD9-81ED-4DB2-BD59-A6C34878D82A}">
                    <a16:rowId xmlns:a16="http://schemas.microsoft.com/office/drawing/2014/main" val="10004"/>
                  </a:ext>
                </a:extLst>
              </a:tr>
            </a:tbl>
          </a:graphicData>
        </a:graphic>
      </p:graphicFrame>
      <p:sp>
        <p:nvSpPr>
          <p:cNvPr id="127" name="Poster Learning marker">
            <a:extLst>
              <a:ext uri="{FF2B5EF4-FFF2-40B4-BE49-F238E27FC236}">
                <a16:creationId xmlns:a16="http://schemas.microsoft.com/office/drawing/2014/main" id="{02096D7A-F44C-DE2D-2048-B306F39C259B}"/>
              </a:ext>
            </a:extLst>
          </p:cNvPr>
          <p:cNvSpPr>
            <a:spLocks noGrp="1"/>
          </p:cNvSpPr>
          <p:nvPr/>
        </p:nvSpPr>
        <p:spPr>
          <a:xfrm>
            <a:off x="892492" y="14783326"/>
            <a:ext cx="523018" cy="510921"/>
          </a:xfrm>
          <a:prstGeom prst="rect">
            <a:avLst/>
          </a:prstGeom>
          <a:solidFill>
            <a:srgbClr val="005E60"/>
          </a:solidFill>
          <a:ln w="0">
            <a:noFill/>
            <a:prstDash val="solid"/>
          </a:ln>
        </p:spPr>
        <p:txBody>
          <a:bodyPr/>
          <a:lstStyle/>
          <a:p>
            <a:endParaRPr lang="en-SG" dirty="0"/>
          </a:p>
        </p:txBody>
      </p:sp>
      <p:sp>
        <p:nvSpPr>
          <p:cNvPr id="129" name="Poster Learning number">
            <a:extLst>
              <a:ext uri="{FF2B5EF4-FFF2-40B4-BE49-F238E27FC236}">
                <a16:creationId xmlns:a16="http://schemas.microsoft.com/office/drawing/2014/main" id="{EA6006BE-331E-7CF1-D6B6-CEE34877E6D1}"/>
              </a:ext>
            </a:extLst>
          </p:cNvPr>
          <p:cNvSpPr>
            <a:spLocks noGrp="1"/>
          </p:cNvSpPr>
          <p:nvPr/>
        </p:nvSpPr>
        <p:spPr>
          <a:xfrm>
            <a:off x="941926" y="14850096"/>
            <a:ext cx="424244" cy="348806"/>
          </a:xfrm>
          <a:prstGeom prst="rect">
            <a:avLst/>
          </a:prstGeom>
          <a:noFill/>
          <a:ln w="0">
            <a:noFill/>
            <a:prstDash val="solid"/>
          </a:ln>
        </p:spPr>
        <p:txBody>
          <a:bodyPr wrap="square" lIns="0" tIns="0" rIns="0" bIns="0" anchor="ctr">
            <a:noAutofit/>
          </a:bodyPr>
          <a:lstStyle>
            <a:defPPr algn="ctr">
              <a:defRPr sz="2175">
                <a:solidFill>
                  <a:srgbClr val="FFFFFF"/>
                </a:solidFill>
                <a:latin typeface="Arial"/>
                <a:ea typeface="Arial"/>
                <a:cs typeface="Arial"/>
              </a:defRPr>
            </a:defPPr>
            <a:lvl1pPr algn="ctr">
              <a:defRPr sz="2175">
                <a:solidFill>
                  <a:srgbClr val="FFFFFF"/>
                </a:solidFill>
                <a:latin typeface="Arial"/>
                <a:ea typeface="Arial"/>
                <a:cs typeface="Arial"/>
              </a:defRPr>
            </a:lvl1pPr>
            <a:lvl2pPr algn="ctr">
              <a:defRPr sz="2175">
                <a:solidFill>
                  <a:srgbClr val="FFFFFF"/>
                </a:solidFill>
                <a:latin typeface="Arial"/>
                <a:ea typeface="Arial"/>
                <a:cs typeface="Arial"/>
              </a:defRPr>
            </a:lvl2pPr>
            <a:lvl3pPr algn="ctr">
              <a:defRPr sz="2175">
                <a:solidFill>
                  <a:srgbClr val="FFFFFF"/>
                </a:solidFill>
                <a:latin typeface="Arial"/>
                <a:ea typeface="Arial"/>
                <a:cs typeface="Arial"/>
              </a:defRPr>
            </a:lvl3pPr>
            <a:lvl4pPr algn="ctr">
              <a:defRPr sz="2175">
                <a:solidFill>
                  <a:srgbClr val="FFFFFF"/>
                </a:solidFill>
                <a:latin typeface="Arial"/>
                <a:ea typeface="Arial"/>
                <a:cs typeface="Arial"/>
              </a:defRPr>
            </a:lvl4pPr>
            <a:lvl5pPr algn="ctr">
              <a:defRPr sz="2175">
                <a:solidFill>
                  <a:srgbClr val="FFFFFF"/>
                </a:solidFill>
                <a:latin typeface="Arial"/>
                <a:ea typeface="Arial"/>
                <a:cs typeface="Arial"/>
              </a:defRPr>
            </a:lvl5pPr>
            <a:lvl6pPr algn="ctr">
              <a:defRPr sz="2175">
                <a:solidFill>
                  <a:srgbClr val="FFFFFF"/>
                </a:solidFill>
                <a:latin typeface="Arial"/>
                <a:ea typeface="Arial"/>
                <a:cs typeface="Arial"/>
              </a:defRPr>
            </a:lvl6pPr>
            <a:lvl7pPr algn="ctr">
              <a:defRPr sz="2175">
                <a:solidFill>
                  <a:srgbClr val="FFFFFF"/>
                </a:solidFill>
                <a:latin typeface="Arial"/>
                <a:ea typeface="Arial"/>
                <a:cs typeface="Arial"/>
              </a:defRPr>
            </a:lvl7pPr>
            <a:lvl8pPr algn="ctr">
              <a:defRPr sz="2175">
                <a:solidFill>
                  <a:srgbClr val="FFFFFF"/>
                </a:solidFill>
                <a:latin typeface="Arial"/>
                <a:ea typeface="Arial"/>
                <a:cs typeface="Arial"/>
              </a:defRPr>
            </a:lvl8pPr>
            <a:lvl9pPr algn="ctr">
              <a:defRPr sz="2175">
                <a:solidFill>
                  <a:srgbClr val="FFFFFF"/>
                </a:solidFill>
                <a:latin typeface="Arial"/>
                <a:ea typeface="Arial"/>
                <a:cs typeface="Arial"/>
              </a:defRPr>
            </a:lvl9pPr>
          </a:lstStyle>
          <a:p>
            <a:pPr algn="ctr">
              <a:defRPr sz="2175">
                <a:solidFill>
                  <a:srgbClr val="FFFFFF"/>
                </a:solidFill>
                <a:latin typeface="Arial"/>
                <a:ea typeface="Arial"/>
                <a:cs typeface="Arial"/>
              </a:defRPr>
            </a:pPr>
            <a:r>
              <a:rPr lang="en-SG" sz="2175" dirty="0">
                <a:solidFill>
                  <a:srgbClr val="FFFFFF"/>
                </a:solidFill>
                <a:latin typeface="Arial"/>
                <a:ea typeface="Arial"/>
                <a:cs typeface="Arial"/>
              </a:rPr>
              <a:t>2</a:t>
            </a:r>
            <a:endParaRPr sz="2175" dirty="0">
              <a:solidFill>
                <a:srgbClr val="FFFFFF"/>
              </a:solidFill>
              <a:latin typeface="Arial"/>
              <a:ea typeface="Arial"/>
              <a:cs typeface="Arial"/>
            </a:endParaRPr>
          </a:p>
        </p:txBody>
      </p:sp>
      <p:sp>
        <p:nvSpPr>
          <p:cNvPr id="131" name="Poster Learning heading">
            <a:extLst>
              <a:ext uri="{FF2B5EF4-FFF2-40B4-BE49-F238E27FC236}">
                <a16:creationId xmlns:a16="http://schemas.microsoft.com/office/drawing/2014/main" id="{E937FB7B-DFDF-E693-53B6-557FEA346179}"/>
              </a:ext>
            </a:extLst>
          </p:cNvPr>
          <p:cNvSpPr>
            <a:spLocks noGrp="1"/>
          </p:cNvSpPr>
          <p:nvPr/>
        </p:nvSpPr>
        <p:spPr>
          <a:xfrm>
            <a:off x="1710118" y="14718024"/>
            <a:ext cx="8564785" cy="648748"/>
          </a:xfrm>
          <a:prstGeom prst="rect">
            <a:avLst/>
          </a:prstGeom>
          <a:noFill/>
          <a:ln w="0">
            <a:noFill/>
            <a:prstDash val="solid"/>
          </a:ln>
        </p:spPr>
        <p:txBody>
          <a:bodyPr wrap="square" lIns="0" tIns="0" rIns="0" bIns="0" anchor="t">
            <a:noAutofit/>
          </a:bodyPr>
          <a:lstStyle>
            <a:defPPr algn="l">
              <a:defRPr sz="3897">
                <a:solidFill>
                  <a:srgbClr val="403B3B"/>
                </a:solidFill>
                <a:latin typeface="Arial"/>
                <a:ea typeface="Arial"/>
                <a:cs typeface="Arial"/>
              </a:defRPr>
            </a:defPPr>
            <a:lvl1pPr algn="l">
              <a:defRPr sz="3897">
                <a:solidFill>
                  <a:srgbClr val="403B3B"/>
                </a:solidFill>
                <a:latin typeface="Arial"/>
                <a:ea typeface="Arial"/>
                <a:cs typeface="Arial"/>
              </a:defRPr>
            </a:lvl1pPr>
            <a:lvl2pPr algn="l">
              <a:defRPr sz="3897">
                <a:solidFill>
                  <a:srgbClr val="403B3B"/>
                </a:solidFill>
                <a:latin typeface="Arial"/>
                <a:ea typeface="Arial"/>
                <a:cs typeface="Arial"/>
              </a:defRPr>
            </a:lvl2pPr>
            <a:lvl3pPr algn="l">
              <a:defRPr sz="3897">
                <a:solidFill>
                  <a:srgbClr val="403B3B"/>
                </a:solidFill>
                <a:latin typeface="Arial"/>
                <a:ea typeface="Arial"/>
                <a:cs typeface="Arial"/>
              </a:defRPr>
            </a:lvl3pPr>
            <a:lvl4pPr algn="l">
              <a:defRPr sz="3897">
                <a:solidFill>
                  <a:srgbClr val="403B3B"/>
                </a:solidFill>
                <a:latin typeface="Arial"/>
                <a:ea typeface="Arial"/>
                <a:cs typeface="Arial"/>
              </a:defRPr>
            </a:lvl4pPr>
            <a:lvl5pPr algn="l">
              <a:defRPr sz="3897">
                <a:solidFill>
                  <a:srgbClr val="403B3B"/>
                </a:solidFill>
                <a:latin typeface="Arial"/>
                <a:ea typeface="Arial"/>
                <a:cs typeface="Arial"/>
              </a:defRPr>
            </a:lvl5pPr>
            <a:lvl6pPr algn="l">
              <a:defRPr sz="3897">
                <a:solidFill>
                  <a:srgbClr val="403B3B"/>
                </a:solidFill>
                <a:latin typeface="Arial"/>
                <a:ea typeface="Arial"/>
                <a:cs typeface="Arial"/>
              </a:defRPr>
            </a:lvl6pPr>
            <a:lvl7pPr algn="l">
              <a:defRPr sz="3897">
                <a:solidFill>
                  <a:srgbClr val="403B3B"/>
                </a:solidFill>
                <a:latin typeface="Arial"/>
                <a:ea typeface="Arial"/>
                <a:cs typeface="Arial"/>
              </a:defRPr>
            </a:lvl7pPr>
            <a:lvl8pPr algn="l">
              <a:defRPr sz="3897">
                <a:solidFill>
                  <a:srgbClr val="403B3B"/>
                </a:solidFill>
                <a:latin typeface="Arial"/>
                <a:ea typeface="Arial"/>
                <a:cs typeface="Arial"/>
              </a:defRPr>
            </a:lvl8pPr>
            <a:lvl9pPr algn="l">
              <a:defRPr sz="3897">
                <a:solidFill>
                  <a:srgbClr val="403B3B"/>
                </a:solidFill>
                <a:latin typeface="Arial"/>
                <a:ea typeface="Arial"/>
                <a:cs typeface="Arial"/>
              </a:defRPr>
            </a:lvl9pPr>
          </a:lstStyle>
          <a:p>
            <a:pPr algn="l">
              <a:defRPr sz="3897">
                <a:solidFill>
                  <a:srgbClr val="403B3B"/>
                </a:solidFill>
                <a:latin typeface="Arial"/>
                <a:ea typeface="Arial"/>
                <a:cs typeface="Arial"/>
              </a:defRPr>
            </a:pPr>
            <a:r>
              <a:rPr sz="3897" dirty="0">
                <a:solidFill>
                  <a:srgbClr val="403B3B"/>
                </a:solidFill>
                <a:latin typeface="Arial"/>
                <a:ea typeface="Arial"/>
                <a:cs typeface="Arial"/>
              </a:rPr>
              <a:t>Learning</a:t>
            </a:r>
            <a:r>
              <a:rPr lang="en-SG" sz="3897" dirty="0">
                <a:solidFill>
                  <a:srgbClr val="403B3B"/>
                </a:solidFill>
                <a:latin typeface="Arial"/>
                <a:ea typeface="Arial"/>
                <a:cs typeface="Arial"/>
              </a:rPr>
              <a:t>s</a:t>
            </a:r>
            <a:endParaRPr sz="3897" dirty="0">
              <a:solidFill>
                <a:srgbClr val="403B3B"/>
              </a:solidFill>
              <a:latin typeface="Arial"/>
              <a:ea typeface="Arial"/>
              <a:cs typeface="Arial"/>
            </a:endParaRPr>
          </a:p>
        </p:txBody>
      </p:sp>
      <p:sp>
        <p:nvSpPr>
          <p:cNvPr id="133" name="Poster Learning left">
            <a:extLst>
              <a:ext uri="{FF2B5EF4-FFF2-40B4-BE49-F238E27FC236}">
                <a16:creationId xmlns:a16="http://schemas.microsoft.com/office/drawing/2014/main" id="{220887F6-ABE1-F8B2-343A-B40CC7B8E339}"/>
              </a:ext>
            </a:extLst>
          </p:cNvPr>
          <p:cNvSpPr>
            <a:spLocks noGrp="1"/>
          </p:cNvSpPr>
          <p:nvPr/>
        </p:nvSpPr>
        <p:spPr>
          <a:xfrm>
            <a:off x="1710118" y="15772618"/>
            <a:ext cx="8763000" cy="2333625"/>
          </a:xfrm>
          <a:prstGeom prst="rect">
            <a:avLst/>
          </a:prstGeom>
          <a:noFill/>
          <a:ln w="0">
            <a:noFill/>
            <a:prstDash val="solid"/>
          </a:ln>
        </p:spPr>
        <p:txBody>
          <a:bodyPr wrap="square" lIns="0" tIns="0" rIns="0" bIns="0" anchor="t">
            <a:noAutofit/>
          </a:bodyPr>
          <a:lstStyle>
            <a:defPPr algn="l">
              <a:defRPr sz="2400">
                <a:solidFill>
                  <a:srgbClr val="403B3B"/>
                </a:solidFill>
                <a:latin typeface="Arial"/>
                <a:ea typeface="Arial"/>
                <a:cs typeface="Arial"/>
              </a:defRPr>
            </a:defPPr>
            <a:lvl1pPr algn="l">
              <a:defRPr sz="2400">
                <a:solidFill>
                  <a:srgbClr val="403B3B"/>
                </a:solidFill>
                <a:latin typeface="Arial"/>
                <a:ea typeface="Arial"/>
                <a:cs typeface="Arial"/>
              </a:defRPr>
            </a:lvl1pPr>
            <a:lvl2pPr algn="l">
              <a:defRPr sz="2400">
                <a:solidFill>
                  <a:srgbClr val="403B3B"/>
                </a:solidFill>
                <a:latin typeface="Arial"/>
                <a:ea typeface="Arial"/>
                <a:cs typeface="Arial"/>
              </a:defRPr>
            </a:lvl2pPr>
            <a:lvl3pPr algn="l">
              <a:defRPr sz="2400">
                <a:solidFill>
                  <a:srgbClr val="403B3B"/>
                </a:solidFill>
                <a:latin typeface="Arial"/>
                <a:ea typeface="Arial"/>
                <a:cs typeface="Arial"/>
              </a:defRPr>
            </a:lvl3pPr>
            <a:lvl4pPr algn="l">
              <a:defRPr sz="2400">
                <a:solidFill>
                  <a:srgbClr val="403B3B"/>
                </a:solidFill>
                <a:latin typeface="Arial"/>
                <a:ea typeface="Arial"/>
                <a:cs typeface="Arial"/>
              </a:defRPr>
            </a:lvl4pPr>
            <a:lvl5pPr algn="l">
              <a:defRPr sz="2400">
                <a:solidFill>
                  <a:srgbClr val="403B3B"/>
                </a:solidFill>
                <a:latin typeface="Arial"/>
                <a:ea typeface="Arial"/>
                <a:cs typeface="Arial"/>
              </a:defRPr>
            </a:lvl5pPr>
            <a:lvl6pPr algn="l">
              <a:defRPr sz="2400">
                <a:solidFill>
                  <a:srgbClr val="403B3B"/>
                </a:solidFill>
                <a:latin typeface="Arial"/>
                <a:ea typeface="Arial"/>
                <a:cs typeface="Arial"/>
              </a:defRPr>
            </a:lvl6pPr>
            <a:lvl7pPr algn="l">
              <a:defRPr sz="2400">
                <a:solidFill>
                  <a:srgbClr val="403B3B"/>
                </a:solidFill>
                <a:latin typeface="Arial"/>
                <a:ea typeface="Arial"/>
                <a:cs typeface="Arial"/>
              </a:defRPr>
            </a:lvl7pPr>
            <a:lvl8pPr algn="l">
              <a:defRPr sz="2400">
                <a:solidFill>
                  <a:srgbClr val="403B3B"/>
                </a:solidFill>
                <a:latin typeface="Arial"/>
                <a:ea typeface="Arial"/>
                <a:cs typeface="Arial"/>
              </a:defRPr>
            </a:lvl8pPr>
            <a:lvl9pPr algn="l">
              <a:defRPr sz="2400">
                <a:solidFill>
                  <a:srgbClr val="403B3B"/>
                </a:solidFill>
                <a:latin typeface="Arial"/>
                <a:ea typeface="Arial"/>
                <a:cs typeface="Arial"/>
              </a:defRPr>
            </a:lvl9pPr>
          </a:lstStyle>
          <a:p>
            <a:pPr algn="l">
              <a:spcAft>
                <a:spcPts val="18"/>
              </a:spcAft>
              <a:defRPr sz="2400">
                <a:solidFill>
                  <a:srgbClr val="403B3B"/>
                </a:solidFill>
                <a:latin typeface="Arial"/>
                <a:ea typeface="Arial"/>
                <a:cs typeface="Arial"/>
              </a:defRPr>
            </a:pPr>
            <a:r>
              <a:rPr sz="2400" b="1" dirty="0">
                <a:solidFill>
                  <a:srgbClr val="403B3B"/>
                </a:solidFill>
                <a:latin typeface="Arial"/>
                <a:ea typeface="Arial"/>
                <a:cs typeface="Arial"/>
              </a:rPr>
              <a:t>Lean application</a:t>
            </a:r>
            <a:r>
              <a:rPr lang="en-SG" b="1" dirty="0"/>
              <a:t>s: </a:t>
            </a:r>
            <a:r>
              <a:rPr lang="en-SG" dirty="0"/>
              <a:t>Learn concepts such as one-piece flow, just in time and Takt cycles calculation </a:t>
            </a:r>
            <a:endParaRPr lang="en-SG" sz="2400" dirty="0">
              <a:solidFill>
                <a:srgbClr val="403B3B"/>
              </a:solidFill>
              <a:latin typeface="Arial"/>
              <a:ea typeface="Arial"/>
              <a:cs typeface="Arial"/>
            </a:endParaRPr>
          </a:p>
          <a:p>
            <a:pPr algn="l">
              <a:spcAft>
                <a:spcPts val="18"/>
              </a:spcAft>
              <a:defRPr sz="2400">
                <a:solidFill>
                  <a:srgbClr val="403B3B"/>
                </a:solidFill>
                <a:latin typeface="Arial"/>
                <a:ea typeface="Arial"/>
                <a:cs typeface="Arial"/>
              </a:defRPr>
            </a:pPr>
            <a:endParaRPr sz="2400" b="0" dirty="0">
              <a:solidFill>
                <a:srgbClr val="403B3B"/>
              </a:solidFill>
              <a:latin typeface="Arial"/>
              <a:ea typeface="Arial"/>
              <a:cs typeface="Arial"/>
            </a:endParaRPr>
          </a:p>
          <a:p>
            <a:pPr algn="l">
              <a:spcAft>
                <a:spcPts val="18"/>
              </a:spcAft>
              <a:defRPr sz="2400">
                <a:solidFill>
                  <a:srgbClr val="403B3B"/>
                </a:solidFill>
                <a:latin typeface="Arial"/>
                <a:ea typeface="Arial"/>
                <a:cs typeface="Arial"/>
              </a:defRPr>
            </a:pPr>
            <a:r>
              <a:rPr lang="en-SG" sz="2400" b="1" dirty="0">
                <a:solidFill>
                  <a:srgbClr val="403B3B"/>
                </a:solidFill>
                <a:latin typeface="Arial"/>
                <a:ea typeface="Arial"/>
                <a:cs typeface="Arial"/>
              </a:rPr>
              <a:t>Planning</a:t>
            </a:r>
            <a:r>
              <a:rPr sz="2400" b="1" dirty="0">
                <a:solidFill>
                  <a:srgbClr val="403B3B"/>
                </a:solidFill>
                <a:latin typeface="Arial"/>
                <a:ea typeface="Arial"/>
                <a:cs typeface="Arial"/>
              </a:rPr>
              <a:t>: </a:t>
            </a:r>
            <a:r>
              <a:rPr lang="en-SG" dirty="0"/>
              <a:t>Learning how to plan for projects using Gantt chart and progress tracker</a:t>
            </a:r>
            <a:endParaRPr sz="2400" b="0" dirty="0">
              <a:solidFill>
                <a:srgbClr val="403B3B"/>
              </a:solidFill>
              <a:latin typeface="Arial"/>
              <a:ea typeface="Arial"/>
              <a:cs typeface="Arial"/>
            </a:endParaRPr>
          </a:p>
        </p:txBody>
      </p:sp>
      <p:sp>
        <p:nvSpPr>
          <p:cNvPr id="135" name="Poster Learning right">
            <a:extLst>
              <a:ext uri="{FF2B5EF4-FFF2-40B4-BE49-F238E27FC236}">
                <a16:creationId xmlns:a16="http://schemas.microsoft.com/office/drawing/2014/main" id="{C02CC1B6-D757-E487-0965-247A9929F553}"/>
              </a:ext>
            </a:extLst>
          </p:cNvPr>
          <p:cNvSpPr>
            <a:spLocks noGrp="1"/>
          </p:cNvSpPr>
          <p:nvPr/>
        </p:nvSpPr>
        <p:spPr>
          <a:xfrm>
            <a:off x="11220450" y="15695636"/>
            <a:ext cx="9048750" cy="2333625"/>
          </a:xfrm>
          <a:prstGeom prst="rect">
            <a:avLst/>
          </a:prstGeom>
          <a:noFill/>
          <a:ln w="0">
            <a:noFill/>
            <a:prstDash val="solid"/>
          </a:ln>
        </p:spPr>
        <p:txBody>
          <a:bodyPr wrap="square" lIns="0" tIns="0" rIns="0" bIns="0" anchor="t">
            <a:noAutofit/>
          </a:bodyPr>
          <a:lstStyle>
            <a:defPPr algn="l">
              <a:defRPr sz="2400">
                <a:solidFill>
                  <a:srgbClr val="403B3B"/>
                </a:solidFill>
                <a:latin typeface="Arial"/>
                <a:ea typeface="Arial"/>
                <a:cs typeface="Arial"/>
              </a:defRPr>
            </a:defPPr>
            <a:lvl1pPr algn="l">
              <a:defRPr sz="2400">
                <a:solidFill>
                  <a:srgbClr val="403B3B"/>
                </a:solidFill>
                <a:latin typeface="Arial"/>
                <a:ea typeface="Arial"/>
                <a:cs typeface="Arial"/>
              </a:defRPr>
            </a:lvl1pPr>
            <a:lvl2pPr algn="l">
              <a:defRPr sz="2400">
                <a:solidFill>
                  <a:srgbClr val="403B3B"/>
                </a:solidFill>
                <a:latin typeface="Arial"/>
                <a:ea typeface="Arial"/>
                <a:cs typeface="Arial"/>
              </a:defRPr>
            </a:lvl2pPr>
            <a:lvl3pPr algn="l">
              <a:defRPr sz="2400">
                <a:solidFill>
                  <a:srgbClr val="403B3B"/>
                </a:solidFill>
                <a:latin typeface="Arial"/>
                <a:ea typeface="Arial"/>
                <a:cs typeface="Arial"/>
              </a:defRPr>
            </a:lvl3pPr>
            <a:lvl4pPr algn="l">
              <a:defRPr sz="2400">
                <a:solidFill>
                  <a:srgbClr val="403B3B"/>
                </a:solidFill>
                <a:latin typeface="Arial"/>
                <a:ea typeface="Arial"/>
                <a:cs typeface="Arial"/>
              </a:defRPr>
            </a:lvl4pPr>
            <a:lvl5pPr algn="l">
              <a:defRPr sz="2400">
                <a:solidFill>
                  <a:srgbClr val="403B3B"/>
                </a:solidFill>
                <a:latin typeface="Arial"/>
                <a:ea typeface="Arial"/>
                <a:cs typeface="Arial"/>
              </a:defRPr>
            </a:lvl5pPr>
            <a:lvl6pPr algn="l">
              <a:defRPr sz="2400">
                <a:solidFill>
                  <a:srgbClr val="403B3B"/>
                </a:solidFill>
                <a:latin typeface="Arial"/>
                <a:ea typeface="Arial"/>
                <a:cs typeface="Arial"/>
              </a:defRPr>
            </a:lvl6pPr>
            <a:lvl7pPr algn="l">
              <a:defRPr sz="2400">
                <a:solidFill>
                  <a:srgbClr val="403B3B"/>
                </a:solidFill>
                <a:latin typeface="Arial"/>
                <a:ea typeface="Arial"/>
                <a:cs typeface="Arial"/>
              </a:defRPr>
            </a:lvl7pPr>
            <a:lvl8pPr algn="l">
              <a:defRPr sz="2400">
                <a:solidFill>
                  <a:srgbClr val="403B3B"/>
                </a:solidFill>
                <a:latin typeface="Arial"/>
                <a:ea typeface="Arial"/>
                <a:cs typeface="Arial"/>
              </a:defRPr>
            </a:lvl8pPr>
            <a:lvl9pPr algn="l">
              <a:defRPr sz="2400">
                <a:solidFill>
                  <a:srgbClr val="403B3B"/>
                </a:solidFill>
                <a:latin typeface="Arial"/>
                <a:ea typeface="Arial"/>
                <a:cs typeface="Arial"/>
              </a:defRPr>
            </a:lvl9pPr>
          </a:lstStyle>
          <a:p>
            <a:pPr algn="l">
              <a:spcAft>
                <a:spcPts val="18"/>
              </a:spcAft>
              <a:defRPr sz="2400">
                <a:solidFill>
                  <a:srgbClr val="403B3B"/>
                </a:solidFill>
                <a:latin typeface="Arial"/>
                <a:ea typeface="Arial"/>
                <a:cs typeface="Arial"/>
              </a:defRPr>
            </a:pPr>
            <a:r>
              <a:rPr lang="en-SG" b="1" dirty="0"/>
              <a:t>Quality: </a:t>
            </a:r>
            <a:r>
              <a:rPr lang="en-SG" dirty="0"/>
              <a:t>Training is also part of quality as it ensure our operators are knowledgeable and adequately skilled to perform the process.</a:t>
            </a:r>
            <a:endParaRPr lang="en-SG" sz="2400" b="0" dirty="0">
              <a:solidFill>
                <a:srgbClr val="403B3B"/>
              </a:solidFill>
              <a:latin typeface="Arial"/>
              <a:ea typeface="Arial"/>
              <a:cs typeface="Arial"/>
            </a:endParaRPr>
          </a:p>
          <a:p>
            <a:pPr algn="l">
              <a:spcAft>
                <a:spcPts val="18"/>
              </a:spcAft>
              <a:defRPr sz="2400">
                <a:solidFill>
                  <a:srgbClr val="403B3B"/>
                </a:solidFill>
                <a:latin typeface="Arial"/>
                <a:ea typeface="Arial"/>
                <a:cs typeface="Arial"/>
              </a:defRPr>
            </a:pPr>
            <a:endParaRPr sz="2400" b="0" dirty="0">
              <a:solidFill>
                <a:srgbClr val="403B3B"/>
              </a:solidFill>
              <a:latin typeface="Arial"/>
              <a:ea typeface="Arial"/>
              <a:cs typeface="Arial"/>
            </a:endParaRPr>
          </a:p>
          <a:p>
            <a:pPr algn="l">
              <a:spcAft>
                <a:spcPts val="18"/>
              </a:spcAft>
              <a:defRPr sz="2400">
                <a:solidFill>
                  <a:srgbClr val="403B3B"/>
                </a:solidFill>
                <a:latin typeface="Arial"/>
                <a:ea typeface="Arial"/>
                <a:cs typeface="Arial"/>
              </a:defRPr>
            </a:pPr>
            <a:r>
              <a:rPr lang="en-SG" sz="2400" b="1" dirty="0">
                <a:solidFill>
                  <a:srgbClr val="403B3B"/>
                </a:solidFill>
                <a:latin typeface="Arial"/>
                <a:ea typeface="Arial"/>
                <a:cs typeface="Arial"/>
              </a:rPr>
              <a:t>Stakeholder management</a:t>
            </a:r>
            <a:r>
              <a:rPr sz="2400" b="1" dirty="0">
                <a:solidFill>
                  <a:srgbClr val="403B3B"/>
                </a:solidFill>
                <a:latin typeface="Arial"/>
                <a:ea typeface="Arial"/>
                <a:cs typeface="Arial"/>
              </a:rPr>
              <a:t>: </a:t>
            </a:r>
            <a:r>
              <a:rPr sz="2400" b="0" dirty="0">
                <a:solidFill>
                  <a:srgbClr val="403B3B"/>
                </a:solidFill>
                <a:latin typeface="Arial"/>
                <a:ea typeface="Arial"/>
                <a:cs typeface="Arial"/>
              </a:rPr>
              <a:t>Align owners, requirements and priorities before implementation.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257</Words>
  <Application>Microsoft Office PowerPoint</Application>
  <PresentationFormat>Custom</PresentationFormat>
  <Paragraphs>45</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IWSP Poster</dc:title>
  <cp:lastModifiedBy>Sim, Ernest (GE Vernova)</cp:lastModifiedBy>
  <cp:revision>8</cp:revision>
  <dcterms:created xsi:type="dcterms:W3CDTF">2006-08-16T00:00:00Z</dcterms:created>
  <dcterms:modified xsi:type="dcterms:W3CDTF">2026-10-22T08:35:14Z</dcterms:modified>
  <dc:identifier>DAEnOoNX58U</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ef8e180-8f22-4ead-b44a-2d560df875da_Enabled">
    <vt:lpwstr>true</vt:lpwstr>
  </property>
  <property fmtid="{D5CDD505-2E9C-101B-9397-08002B2CF9AE}" pid="3" name="MSIP_Label_3ef8e180-8f22-4ead-b44a-2d560df875da_SetDate">
    <vt:lpwstr>2021-08-24T04:45:29Z</vt:lpwstr>
  </property>
  <property fmtid="{D5CDD505-2E9C-101B-9397-08002B2CF9AE}" pid="4" name="MSIP_Label_3ef8e180-8f22-4ead-b44a-2d560df875da_Method">
    <vt:lpwstr>Privileged</vt:lpwstr>
  </property>
  <property fmtid="{D5CDD505-2E9C-101B-9397-08002B2CF9AE}" pid="5" name="MSIP_Label_3ef8e180-8f22-4ead-b44a-2d560df875da_Name">
    <vt:lpwstr>Public</vt:lpwstr>
  </property>
  <property fmtid="{D5CDD505-2E9C-101B-9397-08002B2CF9AE}" pid="6" name="MSIP_Label_3ef8e180-8f22-4ead-b44a-2d560df875da_SiteId">
    <vt:lpwstr>64991f7f-44d6-4d8c-9cd4-7862e8cb94c6</vt:lpwstr>
  </property>
  <property fmtid="{D5CDD505-2E9C-101B-9397-08002B2CF9AE}" pid="7" name="MSIP_Label_3ef8e180-8f22-4ead-b44a-2d560df875da_ActionId">
    <vt:lpwstr>0d8f73f5-433f-4cba-96a0-b2d1bb4e6a33</vt:lpwstr>
  </property>
  <property fmtid="{D5CDD505-2E9C-101B-9397-08002B2CF9AE}" pid="8" name="MSIP_Label_3ef8e180-8f22-4ead-b44a-2d560df875da_ContentBits">
    <vt:lpwstr>0</vt:lpwstr>
  </property>
</Properties>
</file>