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C8936-7D9D-44D5-B213-36DA56F65F1D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9EFB1D-D82E-4C04-BDBA-196C7F5EB5F6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63415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6B8D-6124-F79C-75DC-C26A916C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CA10E-D744-B47F-E1A4-2D92C4DAE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0A03CB-29A8-CFC0-DB57-99939CF17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WSTN#20 ALSS (17/06/26) – Process Engineer to update Router/Smart Shop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WSTN#14 Post FPI (17/06/26) - Touch-up FPI incorporated in WSTN#11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WSTN#11 Post Weld FPI  (17/06/26) – Combine WSTN#11 and #14 WSTN label?</a:t>
            </a:r>
          </a:p>
          <a:p>
            <a:r>
              <a:rPr lang="en-US" dirty="0"/>
              <a:t>WSTN#9 HAAS (16/06/26) – TBC to be moved back to line?</a:t>
            </a:r>
          </a:p>
          <a:p>
            <a:r>
              <a:rPr lang="en-US" dirty="0"/>
              <a:t>All – To be SWIP into WSTN label</a:t>
            </a:r>
          </a:p>
        </p:txBody>
      </p:sp>
    </p:spTree>
    <p:extLst>
      <p:ext uri="{BB962C8B-B14F-4D97-AF65-F5344CB8AC3E}">
        <p14:creationId xmlns:p14="http://schemas.microsoft.com/office/powerpoint/2010/main" val="2149015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0BCB7-9FBA-D7DB-A2F2-DF8B75BE7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FB3D2-6FAB-6391-1821-0901E15F5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309DF-5142-5C09-66EB-F64FD07C8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A98C3-67AD-DED9-8A14-5EFA2C96B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020A1-A529-3A1E-16CF-4A7EC2D8C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21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B8A4-EF4F-E072-F54F-BC5B4FBD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66FB4-7D60-DBDC-318D-7A45E9285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C7A7F-DD83-B21E-023F-0D74037F3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2C18A-08ED-A447-94BF-1BC18801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51DFE-C2BB-42CB-9904-7C88D430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102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E0969-2432-58C6-A26A-490C16EC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82EA5-CB52-1910-C5C0-009AF8570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C95C7-1C33-BC03-2051-10689638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88585-EE0A-EE08-CB13-5AE0A044B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78252-FD54-1421-CD14-87715AA0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464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00C5-9628-156F-B341-C57A96CD9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C2C6B-2229-8154-2860-0176EAA9A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B897A-6727-1D27-A197-4D74CB1ED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BBCEB-2EE8-554D-5063-DCCAC38E5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5DD2C6-3CD1-3AE8-E3B7-ADAF0FCE3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1581C-960C-E7AD-E884-1C8EDCE51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220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8FA96-DFCB-CF9C-E6C3-76BDA63C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55D75-1382-958F-2361-611D6A843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B71C4-CE25-E8E0-9109-B785ABD38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E1D885-49BA-E551-2781-D6621EEC2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A29C55-CDBF-715F-13C4-54702B313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78AE15-3501-7A90-9900-069E0C29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ADEDBB-FF8B-EE6F-23C3-7F580A50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BA530D-0385-0F88-1EAA-8CFBCFD5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810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D6502-E818-9B5C-F820-66158F2D3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8D18BC-9DCC-5190-69DD-D924999A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EF603-E21D-FA8A-6BC4-9205AFBED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41EA9A-FAA4-7910-A4BB-392EDF5B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26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75343-0DAB-2221-73D6-8FF5A83D7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7E15A-A453-E99C-FC9C-F33D5A79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5690D-C1EC-1682-E698-EA47547D3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2763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98A31-F614-D975-6BB3-804BADB4E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C8AB4-CE5C-85D1-D374-E050FE0EA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42BB4-B0A4-617F-1FB7-619F62DDC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5F51E-0B07-625A-4FAC-F0DD39B70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5F691-D26F-B199-50D8-8B5268CB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2CB773-6E21-6F99-0B53-5C82EAB2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42757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E264-E39C-3FB5-B0C3-01F82F079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308CB1-D5DF-A044-2E01-2A442A442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C2F84B-5967-C052-ED17-CBA9F4F53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5532F-7112-597D-3458-63446F4D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36EAB-8921-7120-2BB5-94D111AE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6AE0C-73F9-0336-8CB8-ED691FB7D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5999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14BD-CD88-2584-D304-86646CA93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60D1A4-6CC8-C1F4-02DD-4A2E084F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EE6F2-3422-78F9-0193-79A6C6B69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3F26B-EB77-7275-F116-4198CAA0A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9D137-31A8-F820-55F6-4D918556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56340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604BF9-26D2-159C-ED57-F6AE837FCD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119A3-2EEA-F560-2ECC-C7DDD24B9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9A8DE-E1E9-B3C7-5262-05B0B74AD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2DED-D805-91E8-E07A-FC2A53FBA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84E69-156E-53C2-BB9F-BD00B3072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690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5E3D03-19B4-3646-F255-475032871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7BE8E-7F9B-795F-6D7B-CFDAD0DDB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B1630-B20A-1C56-FE22-2903E9902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2A6041-7BA5-4615-B848-990112BEB320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28842-F434-D435-4FBD-B47C0C82C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8217F-E708-857D-8A96-0B1D3396F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47260-BF51-4BF8-8127-ACD6E3EF258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428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28C88-C428-AE6C-BBB0-E0FB47B3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" name="Table 176">
            <a:extLst>
              <a:ext uri="{FF2B5EF4-FFF2-40B4-BE49-F238E27FC236}">
                <a16:creationId xmlns:a16="http://schemas.microsoft.com/office/drawing/2014/main" id="{005DA1EF-0BA5-D578-182C-1E796B3F04D6}"/>
              </a:ext>
            </a:extLst>
          </p:cNvPr>
          <p:cNvGraphicFramePr>
            <a:graphicFrameLocks noGrp="1"/>
          </p:cNvGraphicFramePr>
          <p:nvPr/>
        </p:nvGraphicFramePr>
        <p:xfrm>
          <a:off x="68580" y="6126348"/>
          <a:ext cx="12061508" cy="6400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18843">
                  <a:extLst>
                    <a:ext uri="{9D8B030D-6E8A-4147-A177-3AD203B41FA5}">
                      <a16:colId xmlns:a16="http://schemas.microsoft.com/office/drawing/2014/main" val="3155996614"/>
                    </a:ext>
                  </a:extLst>
                </a:gridCol>
                <a:gridCol w="1696841">
                  <a:extLst>
                    <a:ext uri="{9D8B030D-6E8A-4147-A177-3AD203B41FA5}">
                      <a16:colId xmlns:a16="http://schemas.microsoft.com/office/drawing/2014/main" val="2656448628"/>
                    </a:ext>
                  </a:extLst>
                </a:gridCol>
                <a:gridCol w="1526893">
                  <a:extLst>
                    <a:ext uri="{9D8B030D-6E8A-4147-A177-3AD203B41FA5}">
                      <a16:colId xmlns:a16="http://schemas.microsoft.com/office/drawing/2014/main" val="1599287682"/>
                    </a:ext>
                  </a:extLst>
                </a:gridCol>
                <a:gridCol w="2108200">
                  <a:extLst>
                    <a:ext uri="{9D8B030D-6E8A-4147-A177-3AD203B41FA5}">
                      <a16:colId xmlns:a16="http://schemas.microsoft.com/office/drawing/2014/main" val="304721254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78810564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75095334"/>
                    </a:ext>
                  </a:extLst>
                </a:gridCol>
                <a:gridCol w="1950031">
                  <a:extLst>
                    <a:ext uri="{9D8B030D-6E8A-4147-A177-3AD203B41FA5}">
                      <a16:colId xmlns:a16="http://schemas.microsoft.com/office/drawing/2014/main" val="515771295"/>
                    </a:ext>
                  </a:extLst>
                </a:gridCol>
              </a:tblGrid>
              <a:tr h="10130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u="none" strike="noStrike" dirty="0">
                          <a:effectLst/>
                        </a:rPr>
                        <a:t>Quality Check</a:t>
                      </a:r>
                      <a:endParaRPr lang="en-SG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u="none" strike="noStrike" dirty="0">
                          <a:effectLst/>
                        </a:rPr>
                        <a:t>Safety Precaution</a:t>
                      </a:r>
                      <a:endParaRPr lang="en-SG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u="none" strike="noStrike" dirty="0">
                          <a:effectLst/>
                        </a:rPr>
                        <a:t>SWIP</a:t>
                      </a:r>
                      <a:endParaRPr lang="en-SG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</a:rPr>
                        <a:t>No. of Piece of SWIP</a:t>
                      </a:r>
                      <a:endParaRPr lang="en-US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u="none" strike="noStrike" dirty="0">
                          <a:effectLst/>
                        </a:rPr>
                        <a:t>Takt Time</a:t>
                      </a:r>
                      <a:endParaRPr lang="en-SG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u="none" strike="noStrike" dirty="0">
                          <a:effectLst/>
                        </a:rPr>
                        <a:t>Cycle Time</a:t>
                      </a:r>
                      <a:endParaRPr lang="en-SG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200" b="1" u="none" strike="noStrike" dirty="0">
                          <a:effectLst/>
                        </a:rPr>
                        <a:t>Operator Number</a:t>
                      </a:r>
                      <a:endParaRPr lang="en-SG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025735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 fontAlgn="ctr"/>
                      <a:endParaRPr lang="en-SG" sz="1200" b="0" i="0" u="none" strike="noStrike" dirty="0">
                        <a:effectLst/>
                        <a:latin typeface="ＭＳ Ｐゴシック" panose="020B0600070205080204" pitchFamily="34" charset="-128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ctr"/>
                      <a:endParaRPr lang="en-SG" sz="1200" b="0" i="0" u="none" strike="noStrike" dirty="0">
                        <a:effectLst/>
                        <a:latin typeface="ＭＳ Ｐゴシック" panose="020B0600070205080204" pitchFamily="34" charset="-128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ctr"/>
                      <a:endParaRPr lang="en-SG" sz="1200" b="0" i="0" u="none" strike="noStrike" dirty="0">
                        <a:effectLst/>
                        <a:latin typeface="ＭＳ Ｐゴシック" panose="020B0600070205080204" pitchFamily="34" charset="-128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200" b="1" i="0" u="none" strike="noStrike" dirty="0">
                        <a:solidFill>
                          <a:schemeClr val="tx1"/>
                        </a:solidFill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200" b="1" i="0" u="none" strike="noStrike" dirty="0">
                        <a:solidFill>
                          <a:schemeClr val="tx1"/>
                        </a:solidFill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2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0492718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CECABE-4DBF-B37D-498D-B40582E4DE42}"/>
              </a:ext>
            </a:extLst>
          </p:cNvPr>
          <p:cNvGraphicFramePr>
            <a:graphicFrameLocks noGrp="1"/>
          </p:cNvGraphicFramePr>
          <p:nvPr/>
        </p:nvGraphicFramePr>
        <p:xfrm>
          <a:off x="57150" y="71068"/>
          <a:ext cx="12068589" cy="1005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07152">
                  <a:extLst>
                    <a:ext uri="{9D8B030D-6E8A-4147-A177-3AD203B41FA5}">
                      <a16:colId xmlns:a16="http://schemas.microsoft.com/office/drawing/2014/main" val="3155996614"/>
                    </a:ext>
                  </a:extLst>
                </a:gridCol>
                <a:gridCol w="2555275">
                  <a:extLst>
                    <a:ext uri="{9D8B030D-6E8A-4147-A177-3AD203B41FA5}">
                      <a16:colId xmlns:a16="http://schemas.microsoft.com/office/drawing/2014/main" val="1739502920"/>
                    </a:ext>
                  </a:extLst>
                </a:gridCol>
                <a:gridCol w="743384">
                  <a:extLst>
                    <a:ext uri="{9D8B030D-6E8A-4147-A177-3AD203B41FA5}">
                      <a16:colId xmlns:a16="http://schemas.microsoft.com/office/drawing/2014/main" val="101638651"/>
                    </a:ext>
                  </a:extLst>
                </a:gridCol>
                <a:gridCol w="4479660">
                  <a:extLst>
                    <a:ext uri="{9D8B030D-6E8A-4147-A177-3AD203B41FA5}">
                      <a16:colId xmlns:a16="http://schemas.microsoft.com/office/drawing/2014/main" val="968781628"/>
                    </a:ext>
                  </a:extLst>
                </a:gridCol>
                <a:gridCol w="1496617">
                  <a:extLst>
                    <a:ext uri="{9D8B030D-6E8A-4147-A177-3AD203B41FA5}">
                      <a16:colId xmlns:a16="http://schemas.microsoft.com/office/drawing/2014/main" val="2689068363"/>
                    </a:ext>
                  </a:extLst>
                </a:gridCol>
                <a:gridCol w="618152">
                  <a:extLst>
                    <a:ext uri="{9D8B030D-6E8A-4147-A177-3AD203B41FA5}">
                      <a16:colId xmlns:a16="http://schemas.microsoft.com/office/drawing/2014/main" val="515771295"/>
                    </a:ext>
                  </a:extLst>
                </a:gridCol>
                <a:gridCol w="131854">
                  <a:extLst>
                    <a:ext uri="{9D8B030D-6E8A-4147-A177-3AD203B41FA5}">
                      <a16:colId xmlns:a16="http://schemas.microsoft.com/office/drawing/2014/main" val="236438027"/>
                    </a:ext>
                  </a:extLst>
                </a:gridCol>
                <a:gridCol w="447966">
                  <a:extLst>
                    <a:ext uri="{9D8B030D-6E8A-4147-A177-3AD203B41FA5}">
                      <a16:colId xmlns:a16="http://schemas.microsoft.com/office/drawing/2014/main" val="93353534"/>
                    </a:ext>
                  </a:extLst>
                </a:gridCol>
                <a:gridCol w="223983">
                  <a:extLst>
                    <a:ext uri="{9D8B030D-6E8A-4147-A177-3AD203B41FA5}">
                      <a16:colId xmlns:a16="http://schemas.microsoft.com/office/drawing/2014/main" val="3547540690"/>
                    </a:ext>
                  </a:extLst>
                </a:gridCol>
                <a:gridCol w="464546">
                  <a:extLst>
                    <a:ext uri="{9D8B030D-6E8A-4147-A177-3AD203B41FA5}">
                      <a16:colId xmlns:a16="http://schemas.microsoft.com/office/drawing/2014/main" val="3257482883"/>
                    </a:ext>
                  </a:extLst>
                </a:gridCol>
              </a:tblGrid>
              <a:tr h="18288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SG" sz="1100" b="1" u="none" strike="noStrike" dirty="0">
                          <a:effectLst/>
                        </a:rPr>
                        <a:t>Line Name</a:t>
                      </a:r>
                      <a:endParaRPr lang="en-SG" sz="11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en-SG" sz="2000" b="1" u="none" strike="noStrike" dirty="0">
                          <a:effectLst/>
                        </a:rPr>
                        <a:t>STANDARD WORK SHEET</a:t>
                      </a:r>
                      <a:endParaRPr lang="en-SG" sz="20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 rowSpan="2"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u="none" strike="noStrike" dirty="0">
                          <a:effectLst/>
                        </a:rPr>
                        <a:t>  </a:t>
                      </a:r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 dirty="0">
                          <a:effectLst/>
                          <a:latin typeface="GE Inspira"/>
                          <a:ea typeface="ＭＳ Ｐゴシック" panose="020B0600070205080204" pitchFamily="34" charset="-128"/>
                        </a:rPr>
                        <a:t>Day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SG" sz="1100" b="1" i="0" u="none" strike="noStrike" dirty="0">
                          <a:effectLst/>
                          <a:latin typeface="GE Inspira"/>
                          <a:ea typeface="ＭＳ Ｐゴシック" panose="020B0600070205080204" pitchFamily="34" charset="-128"/>
                        </a:rPr>
                        <a:t>Month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SG" sz="1100" b="1" u="none" strike="noStrike" dirty="0">
                          <a:effectLst/>
                        </a:rPr>
                        <a:t>Year</a:t>
                      </a:r>
                      <a:endParaRPr lang="en-SG" sz="11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024305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u="none" strike="noStrike" dirty="0">
                          <a:effectLst/>
                        </a:rPr>
                        <a:t>New/Revised</a:t>
                      </a:r>
                      <a:endParaRPr lang="en-SG" sz="11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u="none" strike="noStrike" dirty="0">
                          <a:effectLst/>
                        </a:rPr>
                        <a:t>/</a:t>
                      </a:r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u="none" strike="noStrike" dirty="0">
                          <a:effectLst/>
                        </a:rPr>
                        <a:t>/</a:t>
                      </a:r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547782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u="none" strike="noStrike" dirty="0">
                          <a:effectLst/>
                        </a:rPr>
                        <a:t>Part No.</a:t>
                      </a:r>
                      <a:endParaRPr lang="en-SG" sz="11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u="none" strike="noStrike" dirty="0">
                          <a:effectLst/>
                        </a:rPr>
                        <a:t> </a:t>
                      </a:r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SG" sz="1100" b="1" u="none" strike="noStrike" dirty="0">
                          <a:effectLst/>
                        </a:rPr>
                        <a:t>Scope of Operation</a:t>
                      </a:r>
                      <a:endParaRPr lang="en-SG" sz="11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SG" sz="1100" b="1" u="none" strike="noStrike" dirty="0">
                          <a:effectLst/>
                        </a:rPr>
                        <a:t> From</a:t>
                      </a:r>
                      <a:r>
                        <a:rPr lang="en-SG" sz="1100" u="none" strike="noStrike" dirty="0">
                          <a:effectLst/>
                        </a:rPr>
                        <a:t>:</a:t>
                      </a:r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u="none" strike="noStrike" dirty="0">
                          <a:effectLst/>
                        </a:rPr>
                        <a:t>Department</a:t>
                      </a:r>
                      <a:endParaRPr lang="en-SG" sz="11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ctr" fontAlgn="ctr"/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60547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u="none" strike="noStrike" dirty="0">
                          <a:effectLst/>
                        </a:rPr>
                        <a:t>Part Name</a:t>
                      </a:r>
                      <a:endParaRPr lang="en-SG" sz="11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SG" sz="1100" b="1" u="none" strike="noStrike" dirty="0">
                          <a:effectLst/>
                        </a:rPr>
                        <a:t> To</a:t>
                      </a:r>
                      <a:r>
                        <a:rPr lang="en-SG" sz="1100" u="none" strike="noStrike" dirty="0">
                          <a:effectLst/>
                        </a:rPr>
                        <a:t>:</a:t>
                      </a:r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SG" sz="1100" b="1" u="none" strike="noStrike" dirty="0">
                          <a:effectLst/>
                        </a:rPr>
                        <a:t>Name</a:t>
                      </a:r>
                      <a:endParaRPr lang="en-SG" sz="1100" b="1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 gridSpan="5">
                  <a:txBody>
                    <a:bodyPr/>
                    <a:lstStyle/>
                    <a:p>
                      <a:pPr algn="ctr" fontAlgn="ctr"/>
                      <a:endParaRPr lang="en-SG" sz="1100" b="0" i="0" u="none" strike="noStrike" dirty="0">
                        <a:effectLst/>
                        <a:latin typeface="GE Inspira"/>
                        <a:ea typeface="ＭＳ Ｐゴシック" panose="020B0600070205080204" pitchFamily="34" charset="-128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050619"/>
                  </a:ext>
                </a:extLst>
              </a:tr>
            </a:tbl>
          </a:graphicData>
        </a:graphic>
      </p:graphicFrame>
      <p:sp>
        <p:nvSpPr>
          <p:cNvPr id="125" name="AutoShape 1">
            <a:extLst>
              <a:ext uri="{FF2B5EF4-FFF2-40B4-BE49-F238E27FC236}">
                <a16:creationId xmlns:a16="http://schemas.microsoft.com/office/drawing/2014/main" id="{C3E8A338-ED99-CB71-B8FA-EDECA7A70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695" y="6410455"/>
            <a:ext cx="228600" cy="228600"/>
          </a:xfrm>
          <a:prstGeom prst="plus">
            <a:avLst>
              <a:gd name="adj" fmla="val 35296"/>
            </a:avLst>
          </a:prstGeom>
          <a:solidFill>
            <a:srgbClr val="00B05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SG"/>
          </a:p>
        </p:txBody>
      </p:sp>
      <p:sp>
        <p:nvSpPr>
          <p:cNvPr id="126" name="AutoShape 2">
            <a:extLst>
              <a:ext uri="{FF2B5EF4-FFF2-40B4-BE49-F238E27FC236}">
                <a16:creationId xmlns:a16="http://schemas.microsoft.com/office/drawing/2014/main" id="{857C109D-B605-C291-F0A8-3F8E4B23B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32" y="6410455"/>
            <a:ext cx="228600" cy="228600"/>
          </a:xfrm>
          <a:prstGeom prst="diamond">
            <a:avLst/>
          </a:prstGeom>
          <a:solidFill>
            <a:srgbClr val="FFFF00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SG"/>
          </a:p>
        </p:txBody>
      </p:sp>
      <p:sp>
        <p:nvSpPr>
          <p:cNvPr id="127" name="Oval 126" descr="右上がり対角線 (太)">
            <a:extLst>
              <a:ext uri="{FF2B5EF4-FFF2-40B4-BE49-F238E27FC236}">
                <a16:creationId xmlns:a16="http://schemas.microsoft.com/office/drawing/2014/main" id="{0681C5BF-5FEE-124F-54A8-F0F0A6B79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036" y="6410455"/>
            <a:ext cx="228600" cy="228600"/>
          </a:xfrm>
          <a:prstGeom prst="ellipse">
            <a:avLst/>
          </a:prstGeom>
          <a:pattFill prst="wdUpDiag">
            <a:fgClr>
              <a:srgbClr val="000000"/>
            </a:fgClr>
            <a:bgClr>
              <a:srgbClr val="FFFFFF"/>
            </a:bgClr>
          </a:pattFill>
          <a:ln w="19050">
            <a:solidFill>
              <a:srgbClr val="000000"/>
            </a:solidFill>
            <a:round/>
            <a:headEnd/>
            <a:tailEnd/>
          </a:ln>
        </p:spPr>
        <p:txBody>
          <a:bodyPr wrap="square" lIns="91440" tIns="45720" rIns="91440" bIns="4572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lnSpc>
                <a:spcPts val="1800"/>
              </a:lnSpc>
              <a:defRPr sz="1000"/>
            </a:pPr>
            <a:endParaRPr lang="ja-JP" altLang="en-US" sz="1800" b="0" i="0" strike="noStrike">
              <a:solidFill>
                <a:srgbClr val="000000"/>
              </a:solidFill>
              <a:latin typeface="ＭＳ Ｐゴシック"/>
              <a:ea typeface="ＭＳ Ｐゴシック"/>
            </a:endParaRPr>
          </a:p>
          <a:p>
            <a:pPr algn="l" rtl="0">
              <a:lnSpc>
                <a:spcPts val="1800"/>
              </a:lnSpc>
              <a:defRPr sz="1000"/>
            </a:pPr>
            <a:endParaRPr lang="ja-JP" altLang="en-US" sz="1800" b="0" i="0" strike="noStrike">
              <a:solidFill>
                <a:srgbClr val="000000"/>
              </a:solidFill>
              <a:latin typeface="ＭＳ Ｐゴシック"/>
              <a:ea typeface="ＭＳ Ｐゴシック"/>
            </a:endParaRP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D7DB9CDC-D83F-DB70-DB31-39257D631B12}"/>
              </a:ext>
            </a:extLst>
          </p:cNvPr>
          <p:cNvCxnSpPr>
            <a:cxnSpLocks/>
          </p:cNvCxnSpPr>
          <p:nvPr/>
        </p:nvCxnSpPr>
        <p:spPr>
          <a:xfrm>
            <a:off x="54589" y="582958"/>
            <a:ext cx="11430" cy="587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7F0DD1A4-2CBD-8539-9884-69ED56DBEB46}"/>
              </a:ext>
            </a:extLst>
          </p:cNvPr>
          <p:cNvCxnSpPr>
            <a:cxnSpLocks/>
          </p:cNvCxnSpPr>
          <p:nvPr/>
        </p:nvCxnSpPr>
        <p:spPr>
          <a:xfrm>
            <a:off x="12125739" y="613438"/>
            <a:ext cx="4349" cy="58419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Rectangle 369">
            <a:extLst>
              <a:ext uri="{FF2B5EF4-FFF2-40B4-BE49-F238E27FC236}">
                <a16:creationId xmlns:a16="http://schemas.microsoft.com/office/drawing/2014/main" id="{2524F293-646C-EAFC-0B55-C69C04323695}"/>
              </a:ext>
            </a:extLst>
          </p:cNvPr>
          <p:cNvSpPr/>
          <p:nvPr/>
        </p:nvSpPr>
        <p:spPr>
          <a:xfrm>
            <a:off x="3148551" y="5660004"/>
            <a:ext cx="8977187" cy="4572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1BE559-BFE8-28B2-296F-014E978F1E46}"/>
              </a:ext>
            </a:extLst>
          </p:cNvPr>
          <p:cNvSpPr txBox="1"/>
          <p:nvPr/>
        </p:nvSpPr>
        <p:spPr>
          <a:xfrm>
            <a:off x="3148551" y="5760756"/>
            <a:ext cx="737061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SG" sz="1200" b="1" dirty="0">
                <a:latin typeface="GE Inspira" panose="020F0603030400020203"/>
              </a:rPr>
              <a:t>LEGEND:</a:t>
            </a:r>
          </a:p>
        </p:txBody>
      </p:sp>
    </p:spTree>
    <p:extLst>
      <p:ext uri="{BB962C8B-B14F-4D97-AF65-F5344CB8AC3E}">
        <p14:creationId xmlns:p14="http://schemas.microsoft.com/office/powerpoint/2010/main" val="3356343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GE Inspira</vt:lpstr>
      <vt:lpstr>ＭＳ Ｐゴシック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Sim, Ernest (GE Vernova)</dc:creator>
  <cp:lastModifiedBy>Sim, Ernest (GE Vernova)</cp:lastModifiedBy>
  <cp:revision>1</cp:revision>
  <dcterms:created xsi:type="dcterms:W3CDTF">2026-10-19T07:25:33Z</dcterms:created>
  <dcterms:modified xsi:type="dcterms:W3CDTF">2026-10-19T07:25:48Z</dcterms:modified>
</cp:coreProperties>
</file>